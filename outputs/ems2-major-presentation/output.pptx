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610798391e42e2" /><Relationship Type="http://schemas.openxmlformats.org/officeDocument/2006/relationships/extended-properties" Target="/docProps/app.xml" Id="R177e5e8a2c564a01" /><Relationship Type="http://schemas.openxmlformats.org/officeDocument/2006/relationships/officeDocument" Target="/ppt/presentation.xml" Id="Rfa1dcab1f96c40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fdaff3c1334209"/>
  </p:sldMasterIdLst>
  <p:notesMasterIdLst>
    <p:notesMasterId xmlns:r="http://schemas.openxmlformats.org/officeDocument/2006/relationships" r:id="R95d118deccff4a59"/>
  </p:notesMasterIdLst>
  <p:sldIdLst>
    <p:sldId xmlns:r="http://schemas.openxmlformats.org/officeDocument/2006/relationships" id="256" r:id="Rbdf9d6b0131e4c1c"/>
    <p:sldId xmlns:r="http://schemas.openxmlformats.org/officeDocument/2006/relationships" id="257" r:id="R0c7062ae5f134d98"/>
    <p:sldId xmlns:r="http://schemas.openxmlformats.org/officeDocument/2006/relationships" id="258" r:id="R29584ac8330946e6"/>
    <p:sldId xmlns:r="http://schemas.openxmlformats.org/officeDocument/2006/relationships" id="259" r:id="Rb8def994af014675"/>
    <p:sldId xmlns:r="http://schemas.openxmlformats.org/officeDocument/2006/relationships" id="260" r:id="R17ad32d0e99546ef"/>
    <p:sldId xmlns:r="http://schemas.openxmlformats.org/officeDocument/2006/relationships" id="261" r:id="Rd32138aeb55c4029"/>
    <p:sldId xmlns:r="http://schemas.openxmlformats.org/officeDocument/2006/relationships" id="262" r:id="Rec601616c29247ce"/>
    <p:sldId xmlns:r="http://schemas.openxmlformats.org/officeDocument/2006/relationships" id="263" r:id="R8b1aa02bae8f4325"/>
    <p:sldId xmlns:r="http://schemas.openxmlformats.org/officeDocument/2006/relationships" id="264" r:id="R50a44b530c2d43ec"/>
    <p:sldId xmlns:r="http://schemas.openxmlformats.org/officeDocument/2006/relationships" id="265" r:id="R977864b120334f7e"/>
    <p:sldId xmlns:r="http://schemas.openxmlformats.org/officeDocument/2006/relationships" id="266" r:id="R28e9de7b2f4443c8"/>
    <p:sldId xmlns:r="http://schemas.openxmlformats.org/officeDocument/2006/relationships" id="267" r:id="R27b976694ca24b46"/>
    <p:sldId xmlns:r="http://schemas.openxmlformats.org/officeDocument/2006/relationships" id="268" r:id="R6e3c7866fbaf42ad"/>
    <p:sldId xmlns:r="http://schemas.openxmlformats.org/officeDocument/2006/relationships" id="269" r:id="R2e87f1895d5b4ef4"/>
    <p:sldId xmlns:r="http://schemas.openxmlformats.org/officeDocument/2006/relationships" id="270" r:id="R5d47289c6034410a"/>
    <p:sldId xmlns:r="http://schemas.openxmlformats.org/officeDocument/2006/relationships" id="271" r:id="R4ddcd74103e248c1"/>
    <p:sldId xmlns:r="http://schemas.openxmlformats.org/officeDocument/2006/relationships" id="272" r:id="R866f42ce36cc45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daff3c1334209" /><Relationship Type="http://schemas.openxmlformats.org/officeDocument/2006/relationships/theme" Target="/ppt/theme/theme1.xml" Id="R1dbe4e92cfe64ec5" /><Relationship Type="http://schemas.openxmlformats.org/officeDocument/2006/relationships/notesMaster" Target="/ppt/notesMasters/notesMaster1.xml" Id="R95d118deccff4a59" /><Relationship Type="http://schemas.openxmlformats.org/officeDocument/2006/relationships/presProps" Target="/ppt/presProps.xml" Id="Rb9886edf386e41ce" /><Relationship Type="http://schemas.openxmlformats.org/officeDocument/2006/relationships/viewProps" Target="/ppt/viewProps.xml" Id="Ree86f18d035a417f" /><Relationship Type="http://schemas.openxmlformats.org/officeDocument/2006/relationships/tableStyles" Target="/ppt/tableStyles.xml" Id="Ref8a465c3df04bfb" /><Relationship Type="http://schemas.openxmlformats.org/officeDocument/2006/relationships/slide" Target="/ppt/slides/slide1.xml" Id="Rbdf9d6b0131e4c1c" /><Relationship Type="http://schemas.openxmlformats.org/officeDocument/2006/relationships/slide" Target="/ppt/slides/slide2.xml" Id="R0c7062ae5f134d98" /><Relationship Type="http://schemas.openxmlformats.org/officeDocument/2006/relationships/slide" Target="/ppt/slides/slide3.xml" Id="R29584ac8330946e6" /><Relationship Type="http://schemas.openxmlformats.org/officeDocument/2006/relationships/slide" Target="/ppt/slides/slide4.xml" Id="Rb8def994af014675" /><Relationship Type="http://schemas.openxmlformats.org/officeDocument/2006/relationships/slide" Target="/ppt/slides/slide5.xml" Id="R17ad32d0e99546ef" /><Relationship Type="http://schemas.openxmlformats.org/officeDocument/2006/relationships/slide" Target="/ppt/slides/slide6.xml" Id="Rd32138aeb55c4029" /><Relationship Type="http://schemas.openxmlformats.org/officeDocument/2006/relationships/slide" Target="/ppt/slides/slide7.xml" Id="Rec601616c29247ce" /><Relationship Type="http://schemas.openxmlformats.org/officeDocument/2006/relationships/slide" Target="/ppt/slides/slide8.xml" Id="R8b1aa02bae8f4325" /><Relationship Type="http://schemas.openxmlformats.org/officeDocument/2006/relationships/slide" Target="/ppt/slides/slide9.xml" Id="R50a44b530c2d43ec" /><Relationship Type="http://schemas.openxmlformats.org/officeDocument/2006/relationships/slide" Target="/ppt/slides/slide10.xml" Id="R977864b120334f7e" /><Relationship Type="http://schemas.openxmlformats.org/officeDocument/2006/relationships/slide" Target="/ppt/slides/slide11.xml" Id="R28e9de7b2f4443c8" /><Relationship Type="http://schemas.openxmlformats.org/officeDocument/2006/relationships/slide" Target="/ppt/slides/slide12.xml" Id="R27b976694ca24b46" /><Relationship Type="http://schemas.openxmlformats.org/officeDocument/2006/relationships/slide" Target="/ppt/slides/slide13.xml" Id="R6e3c7866fbaf42ad" /><Relationship Type="http://schemas.openxmlformats.org/officeDocument/2006/relationships/slide" Target="/ppt/slides/slide14.xml" Id="R2e87f1895d5b4ef4" /><Relationship Type="http://schemas.openxmlformats.org/officeDocument/2006/relationships/slide" Target="/ppt/slides/slide15.xml" Id="R5d47289c6034410a" /><Relationship Type="http://schemas.openxmlformats.org/officeDocument/2006/relationships/slide" Target="/ppt/slides/slide16.xml" Id="R4ddcd74103e248c1" /><Relationship Type="http://schemas.openxmlformats.org/officeDocument/2006/relationships/slide" Target="/ppt/slides/slide17.xml" Id="R866f42ce36cc45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3518b2104da49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EMS2">
  <a:themeElements>
    <a:clrScheme name="EMS2">
      <a:accent1>
        <a:srgbClr val="16867F"/>
      </a:accent1>
      <a:accent2>
        <a:srgbClr val="C78A2C"/>
      </a:accent2>
      <a:accent3>
        <a:srgbClr val="D96B4D"/>
      </a:accent3>
      <a:accent4>
        <a:srgbClr val="2C4E67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MS2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fb74655f8342ba" /><Relationship Type="http://schemas.openxmlformats.org/officeDocument/2006/relationships/notesMaster" Target="/ppt/notesMasters/notesMaster1.xml" Id="R47b546ae8f2f49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4a5b8cd3714afe" /><Relationship Type="http://schemas.openxmlformats.org/officeDocument/2006/relationships/notesMaster" Target="/ppt/notesMasters/notesMaster1.xml" Id="R871911ceddab47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11e42a2ca541e8" /><Relationship Type="http://schemas.openxmlformats.org/officeDocument/2006/relationships/notesMaster" Target="/ppt/notesMasters/notesMaster1.xml" Id="R63329ac4329641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16365bb8ce48cf" /><Relationship Type="http://schemas.openxmlformats.org/officeDocument/2006/relationships/notesMaster" Target="/ppt/notesMasters/notesMaster1.xml" Id="R4fa19bca99f744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75c0b3e95e4618" /><Relationship Type="http://schemas.openxmlformats.org/officeDocument/2006/relationships/notesMaster" Target="/ppt/notesMasters/notesMaster1.xml" Id="R94c647be8f0d4f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799f43773f40f0" /><Relationship Type="http://schemas.openxmlformats.org/officeDocument/2006/relationships/notesMaster" Target="/ppt/notesMasters/notesMaster1.xml" Id="Rb054a3e60b5e4d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9fd2d269fc4961" /><Relationship Type="http://schemas.openxmlformats.org/officeDocument/2006/relationships/notesMaster" Target="/ppt/notesMasters/notesMaster1.xml" Id="R63b1ed089e5941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a78998ad25466f" /><Relationship Type="http://schemas.openxmlformats.org/officeDocument/2006/relationships/notesMaster" Target="/ppt/notesMasters/notesMaster1.xml" Id="Rd8fc8ab00b804c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09db33ba6846a3" /><Relationship Type="http://schemas.openxmlformats.org/officeDocument/2006/relationships/notesMaster" Target="/ppt/notesMasters/notesMaster1.xml" Id="Re545b53f59e440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cd19597ee34893" /><Relationship Type="http://schemas.openxmlformats.org/officeDocument/2006/relationships/notesMaster" Target="/ppt/notesMasters/notesMaster1.xml" Id="Re4a97f6134ae4c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0529ffbfc7489c" /><Relationship Type="http://schemas.openxmlformats.org/officeDocument/2006/relationships/notesMaster" Target="/ppt/notesMasters/notesMaster1.xml" Id="Ref98add69d054e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dd6594ad194734" /><Relationship Type="http://schemas.openxmlformats.org/officeDocument/2006/relationships/notesMaster" Target="/ppt/notesMasters/notesMaster1.xml" Id="Rff176b2bb4004b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2ef7e265f44941" /><Relationship Type="http://schemas.openxmlformats.org/officeDocument/2006/relationships/notesMaster" Target="/ppt/notesMasters/notesMaster1.xml" Id="R37deb7581ec74c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4b11cdbb8a4100" /><Relationship Type="http://schemas.openxmlformats.org/officeDocument/2006/relationships/notesMaster" Target="/ppt/notesMasters/notesMaster1.xml" Id="Raf475e9ad8f249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7ae3630c024fb4" /><Relationship Type="http://schemas.openxmlformats.org/officeDocument/2006/relationships/notesMaster" Target="/ppt/notesMasters/notesMaster1.xml" Id="R40c49f17dc244d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1c398d30f04a45" /><Relationship Type="http://schemas.openxmlformats.org/officeDocument/2006/relationships/notesMaster" Target="/ppt/notesMasters/notesMaster1.xml" Id="R9f31cdfa1f9848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fc4415940e4422a" /><Relationship Type="http://schemas.openxmlformats.org/officeDocument/2006/relationships/notesMaster" Target="/ppt/notesMasters/notesMaster1.xml" Id="R94b89e13743f47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name, explain that this deck follows the major project chapter sequence, and mention the modular technology stack.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system at a high level and position it as a complete event and venue management project rather than a simple directory.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documentation/detailed-project-report.md</a:t>
            </a:r>
          </a:p>
          <a:p xmlns:a="http://schemas.openxmlformats.org/drawingml/2006/main">
            <a:r>
              <a:t>- documentation/full-project-report.md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current manual environment first so the audience clearly understands the problem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documentation/detailed-project-report.md</a:t>
            </a:r>
          </a:p>
          <a:p xmlns:a="http://schemas.openxmlformats.org/drawingml/2006/main">
            <a:r>
              <a:t>- documentation/project-explanation-script.md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proposed system as a direct response to the pain points shown on the previous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documentation/detailed-project-report.md</a:t>
            </a:r>
          </a:p>
          <a:p xmlns:a="http://schemas.openxmlformats.org/drawingml/2006/main">
            <a:r>
              <a:t>- documentation/full-project-report.md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scope includes both working software features and the academic design and documentation expected from a major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documentation/detailed-project-report.md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hardware needs briefly and keep the focus on the fact that this is deployable in a normal academic lab or laptop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documentation/detailed-project-report.md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that the software environment is practical, familiar, and well-suited for a major project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documentation/detailed-project-report.md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the main stack first: backend logic, data storage, and front-end technologies.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documentation/detailed-project-report.md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that the project includes integration-ready and extensible components beyond the core PHP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documentation/detailed-project-report.md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screen section is derived from the current home and venues view files in the PHP application.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php-app/src/Views/*.php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talk through the main UI areas shown in the codebase: venue detail interaction, OTP flow, and dashboard management.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php-app/src/Views/*.php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system flow from left to right and pause at OTP verification and slot hold creation, since those are key design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documentation/detailed-project-report.md</a:t>
            </a:r>
          </a:p>
          <a:p xmlns:a="http://schemas.openxmlformats.org/drawingml/2006/main">
            <a:r>
              <a:t>- documentation/project-explanation-script.md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user roles clearly here, because the same role model drives both the UI and access control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documentation/detailed-project-report.md</a:t>
            </a:r>
          </a:p>
          <a:p xmlns:a="http://schemas.openxmlformats.org/drawingml/2006/main">
            <a:r>
              <a:t>- documentation/project-explanation-script.md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 about maintainability here. The modular structure is a strong academic point because it shows organized implementation instead of monolithic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documentation/detailed-project-report.md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sequence portion to explain request flow and the activity summary to reinforce the business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documentation/detailed-project-report.md</a:t>
            </a:r>
          </a:p>
          <a:p xmlns:a="http://schemas.openxmlformats.org/drawingml/2006/main">
            <a:r>
              <a:t>- documentation/project-explanation-script.md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browser to PHP app, PHP app to database, then outward to services and supporting modules.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documentation/detailed-project-report.md</a:t>
            </a:r>
          </a:p>
          <a:p xmlns:a="http://schemas.openxmlformats.org/drawingml/2006/main">
            <a:r>
              <a:t>- documentation/project-explanation-script.md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final slide to summarize the navigation structure and conclude the presentation confidently.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documentation/detailed-project-report.md</a:t>
            </a:r>
          </a:p>
          <a:p xmlns:a="http://schemas.openxmlformats.org/drawingml/2006/main">
            <a:r>
              <a:t>- documentation/project-explanation-script.md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62f6795d0403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4ACE858B-91E3-42ED-BCB9-AA56CF9CA2B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133264B2-274C-4363-BF18-5B67C4353346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C47013F-A4C1-49E2-BC76-43FCB392E72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D77826-14C7-4165-8F15-B6FD6BBF89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60c10b3f5e44501" /><Relationship Type="http://schemas.openxmlformats.org/officeDocument/2006/relationships/slideLayout" Target="/ppt/slideLayouts/slideLayout2.xml" Id="R0e9195bb813941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977AC3-7E14-49A6-9FB1-3D7FFD6B920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9195bb813941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4ba95c90e44de7" /><Relationship Type="http://schemas.openxmlformats.org/officeDocument/2006/relationships/image" Target="/ppt/media/image.jpeg" Id="Ra1045a80ecfa4a6c" /><Relationship Type="http://schemas.openxmlformats.org/officeDocument/2006/relationships/notesSlide" Target="/ppt/notesSlides/notesSlide1.xml" Id="R03dc9eedde6749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ba6730ecd448a5" /><Relationship Type="http://schemas.openxmlformats.org/officeDocument/2006/relationships/notesSlide" Target="/ppt/notesSlides/notesSlide2.xml" Id="Rf07dab12fd534f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57bcc24a7844d7" /><Relationship Type="http://schemas.openxmlformats.org/officeDocument/2006/relationships/notesSlide" Target="/ppt/notesSlides/notesSlide3.xml" Id="R7c694869ad3b4a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2dddf981784b35" /><Relationship Type="http://schemas.openxmlformats.org/officeDocument/2006/relationships/notesSlide" Target="/ppt/notesSlides/notesSlide4.xml" Id="R3a23b11e25bd43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fc297ffdd947d5" /><Relationship Type="http://schemas.openxmlformats.org/officeDocument/2006/relationships/notesSlide" Target="/ppt/notesSlides/notesSlide5.xml" Id="R7836bfd58a414c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c0c33a958046e7" /><Relationship Type="http://schemas.openxmlformats.org/officeDocument/2006/relationships/notesSlide" Target="/ppt/notesSlides/notesSlide6.xml" Id="Re5f03030cf0648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e6dc88059c427e" /><Relationship Type="http://schemas.openxmlformats.org/officeDocument/2006/relationships/notesSlide" Target="/ppt/notesSlides/notesSlide7.xml" Id="Rb07da3404b1148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9191e4e6224bf9" /><Relationship Type="http://schemas.openxmlformats.org/officeDocument/2006/relationships/notesSlide" Target="/ppt/notesSlides/notesSlide8.xml" Id="R0dae5aa83e4c4c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8eeebb67b54f3b" /><Relationship Type="http://schemas.openxmlformats.org/officeDocument/2006/relationships/notesSlide" Target="/ppt/notesSlides/notesSlide9.xml" Id="Rce214957b48643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6ddc7cf1964e1e" /><Relationship Type="http://schemas.openxmlformats.org/officeDocument/2006/relationships/image" Target="/ppt/media/image2.jpeg" Id="R61b505f70b2c4abf" /><Relationship Type="http://schemas.openxmlformats.org/officeDocument/2006/relationships/notesSlide" Target="/ppt/notesSlides/notesSlide10.xml" Id="R21884a45e57244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5cd9f391d6496f" /><Relationship Type="http://schemas.openxmlformats.org/officeDocument/2006/relationships/notesSlide" Target="/ppt/notesSlides/notesSlide11.xml" Id="Rf88188d6afb645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67237871004e73" /><Relationship Type="http://schemas.openxmlformats.org/officeDocument/2006/relationships/notesSlide" Target="/ppt/notesSlides/notesSlide12.xml" Id="Rff9f9b3867984a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9539f385a14773" /><Relationship Type="http://schemas.openxmlformats.org/officeDocument/2006/relationships/notesSlide" Target="/ppt/notesSlides/notesSlide13.xml" Id="R035b2e6e465940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d2633a7c6244a8" /><Relationship Type="http://schemas.openxmlformats.org/officeDocument/2006/relationships/notesSlide" Target="/ppt/notesSlides/notesSlide14.xml" Id="R6419e8333fb24a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8dc054e6de40cc" /><Relationship Type="http://schemas.openxmlformats.org/officeDocument/2006/relationships/notesSlide" Target="/ppt/notesSlides/notesSlide15.xml" Id="R8a4564f0dcb742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7f96350b7a4558" /><Relationship Type="http://schemas.openxmlformats.org/officeDocument/2006/relationships/notesSlide" Target="/ppt/notesSlides/notesSlide16.xml" Id="R62642f75faf344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af464718734102" /><Relationship Type="http://schemas.openxmlformats.org/officeDocument/2006/relationships/notesSlide" Target="/ppt/notesSlides/notesSlide17.xml" Id="R96fc713dd34e41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17CE7-0230-4263-AE94-38F6D801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9A33C-B501-4040-9DD3-3A74E4D9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407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916EE-70F0-4773-AFB9-3C378B65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45a80ecfa4a6c"/>
          <a:stretch xmlns:a="http://schemas.openxmlformats.org/drawingml/2006/main"/>
        </p:blipFill>
        <p:spPr>
          <a:xfrm xmlns:a="http://schemas.openxmlformats.org/drawingml/2006/main">
            <a:off x="8610600" y="742950"/>
            <a:ext cx="2019300" cy="2019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BF5C0-9599-40B9-9372-39A26150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1847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16867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6718B-C424-43FD-98B0-BB008317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23925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MAJOR PROJECT PPT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FE339-BA2B-47FA-BB9C-EA69E72A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933"/>
                </a:solidFill>
              </a:defRPr>
            </a:pPr>
            <a:r>
              <a:rPr sz="3150" b="1">
                <a:solidFill>
                  <a:srgbClr val="1E2933"/>
                </a:solidFill>
              </a:rPr>
              <a:t>EMS2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10460-3AC3-47EE-9284-5F181432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609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C4E67"/>
                </a:solidFill>
              </a:defRPr>
            </a:pPr>
            <a:r>
              <a:rPr sz="2100" b="1">
                <a:solidFill>
                  <a:srgbClr val="2C4E67"/>
                </a:solidFill>
              </a:rPr>
              <a:t>Event and Venue Management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70FA1-C838-49F2-A8B8-C821D544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5924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C76"/>
                </a:solidFill>
              </a:defRPr>
            </a:pPr>
            <a:r>
              <a:rPr sz="1425" b="0">
                <a:solidFill>
                  <a:srgbClr val="5F6C76"/>
                </a:solidFill>
              </a:rPr>
              <a:t>A web-based platform for venue discovery, OTP authentication, booking workflow management, role-based dashboards, and future-ready integration support.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CE029-BC35-4057-BBA2-98E84660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ED96B-E2E8-4B34-867E-AAE3BCCF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C3893-1053-4A42-A028-AADF93EF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3"/>
                </a:solidFill>
              </a:defRPr>
            </a:pPr>
            <a:r>
              <a:rPr sz="2250" b="1">
                <a:solidFill>
                  <a:srgbClr val="1E2933"/>
                </a:solidFill>
              </a:rPr>
              <a:t>17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25F39-47C4-4803-A891-F79001D1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C76"/>
                </a:solidFill>
              </a:defRPr>
            </a:pPr>
            <a:r>
              <a:rPr sz="1125" b="0">
                <a:solidFill>
                  <a:srgbClr val="5F6C76"/>
                </a:solidFill>
              </a:rPr>
              <a:t>Slides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BB1C4-A103-44B3-9403-E8C25976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Detailed academic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D016A-4F73-4B9E-BBF3-086FAFF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0055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4C6C4-302B-47C9-B2E0-CECD6579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005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5C4B6-6C45-4742-8C44-2774A59F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720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3"/>
                </a:solidFill>
              </a:defRPr>
            </a:pPr>
            <a:r>
              <a:rPr sz="2250" b="1">
                <a:solidFill>
                  <a:srgbClr val="1E2933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D394C-C295-4F22-BC28-8D32951D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9110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C76"/>
                </a:solidFill>
              </a:defRPr>
            </a:pPr>
            <a:r>
              <a:rPr sz="1125" b="0">
                <a:solidFill>
                  <a:srgbClr val="5F6C76"/>
                </a:solidFill>
              </a:rPr>
              <a:t>User roles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82F4FA-8F56-4779-B926-145230FF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9590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Customer, Owner, Administrator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2CD5A-DC28-461E-A08D-FDF652A3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0055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AD5BB-440C-4E3F-AC25-DC047581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005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1C718-AEFE-4536-9231-25D128A5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3"/>
                </a:solidFill>
              </a:defRPr>
            </a:pPr>
            <a:r>
              <a:rPr sz="2250" b="1">
                <a:solidFill>
                  <a:srgbClr val="1E2933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C81F1D-1FAD-4F6A-AD25-84D87363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9110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C76"/>
                </a:solidFill>
              </a:defRPr>
            </a:pPr>
            <a:r>
              <a:rPr sz="1125" b="0">
                <a:solidFill>
                  <a:srgbClr val="5F6C76"/>
                </a:solidFill>
              </a:rPr>
              <a:t>Core layers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A75C0-719B-4B05-88C1-FC1EF214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9590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PHP, MySQL, Java, Python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B0AE40-A8D6-4733-8446-1BD6AEAF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26670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0142F6-F2B9-41A0-8192-23B745EE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76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0C7861-818D-4BA4-ACF9-7178A2E1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718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4E67"/>
                </a:solidFill>
              </a:defRPr>
            </a:pPr>
            <a:r>
              <a:rPr sz="1050" b="1">
                <a:solidFill>
                  <a:srgbClr val="2C4E67"/>
                </a:solidFill>
              </a:rPr>
              <a:t>Presentation 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C715B8-9803-4CD7-8A45-F18FA73B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14750"/>
            <a:ext cx="2228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3"/>
                </a:solidFill>
              </a:defRPr>
            </a:pPr>
            <a:r>
              <a:rPr sz="1350" b="0">
                <a:solidFill>
                  <a:srgbClr val="1E2933"/>
                </a:solidFill>
              </a:rPr>
              <a:t>Introduction, existing system, scope, environment, technology, screens, and diagrams are organized in chapter order for major project delivery.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0B2FD6-8C5A-4EEE-A6AC-3D355402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6285C9-BFF4-43D8-B64B-DA5E3EFC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666436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59EA3-98AD-49F2-BA86-BCC92A75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5C222-E662-4198-86AF-9DF7A390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ECFC7-9CDF-400B-81E2-891C8A58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7DD5E-3944-46EA-AA76-57321F68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3F98E-F3D5-4834-8046-EC870FFD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932BC-D796-403A-BE8A-B780F5E1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02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4B204-8F10-4977-9910-4128708F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992AF-C61B-40B6-95EF-B746A317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5E771-CD63-45A4-8011-BCDA7BA4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82A50-95FB-473A-94F6-6FAE5D26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Introduction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51A7A-EA15-4CB6-A07F-04AAB271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EMS2 digitizes the venue selection and booking process through a centralized web platform.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B8593-ACA7-416B-82D2-54F007DD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9243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F20BC-8594-45C8-BFFC-9331EB6A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762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FAC84-1751-4113-A309-D8D232D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354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67F"/>
                </a:solidFill>
              </a:defRPr>
            </a:pPr>
            <a:r>
              <a:rPr sz="1050" b="1">
                <a:solidFill>
                  <a:srgbClr val="16867F"/>
                </a:solidFill>
              </a:rPr>
              <a:t>Project overview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E1D79-C59C-41EB-ADEC-4C06C1EB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3486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Customers can browse venues, compare price and capacity, authenticate with OTP, and move into a structured booking workflow from a single website.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4A959-2184-470D-A5FD-51D862DA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39243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D2143-9230-46FE-B7FD-9444A0E6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762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29E06-E48F-42F9-B0AB-57E4F021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354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A2C"/>
                </a:solidFill>
              </a:defRPr>
            </a:pPr>
            <a:r>
              <a:rPr sz="1050" b="1">
                <a:solidFill>
                  <a:srgbClr val="C78A2C"/>
                </a:solidFill>
              </a:rPr>
              <a:t>Why it matters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9D0C6-9E2D-4B64-BBB6-10E24F35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90850"/>
            <a:ext cx="3486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The same platform helps owners manage venues and bookings while administrators supervise users, status, and overall platform activity.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838A75-27C4-4F54-A52E-B0C7467B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8153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2E5FC-0778-46BF-BF3E-C5086247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91200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4E67"/>
                </a:solidFill>
              </a:defRPr>
            </a:pPr>
            <a:r>
              <a:rPr sz="1275" b="0">
                <a:solidFill>
                  <a:srgbClr val="2C4E67"/>
                </a:solidFill>
              </a:rPr>
              <a:t>The project is designed as more than a listing site: it is an integrated event venue management workflow.</a:t>
            </a:r>
          </a:p>
        </p:txBody>
      </p:sp>
    </p:spTree>
    <p:extLst>
      <p:ext uri="{BB962C8B-B14F-4D97-AF65-F5344CB8AC3E}">
        <p14:creationId xmlns:p14="http://schemas.microsoft.com/office/powerpoint/2010/main" val="16810584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898B8-5F7E-4B81-B8E9-E882DF9B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18136-92FC-4801-8A18-5241524A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C4D23-BFC0-4287-8702-7C146F81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953D3-1270-4F52-BA7F-84249F7E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9AEBE-BE99-40CB-A216-FBBB9016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EXISTING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29BE2-9518-49C3-B76A-D646511E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03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8FEF5-CC16-4F97-810D-95D0B865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2A0A6-2733-4E30-BF05-AD480668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C9DFE-A57B-4327-A9FC-FA3FAD5E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6E048-021C-4CBA-ACFF-D19C986C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Existing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F1B7B-EBA1-4158-96EF-53334579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Traditional venue booking often depends on phone calls, direct visits, notebooks, and disconnected records.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D3E0E-7FA2-46CB-96C0-847CDC18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AE066-5C45-49DD-B0B7-9F81D137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35777-2235-42CD-829E-C1AAEFF5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67F"/>
                </a:solidFill>
              </a:defRPr>
            </a:pPr>
            <a:r>
              <a:rPr sz="1050" b="1">
                <a:solidFill>
                  <a:srgbClr val="16867F"/>
                </a:solidFill>
              </a:rPr>
              <a:t>Manual process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8A229-4D75-4EAE-BC2C-9288CA90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0383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Customers must contact multiple venue providers separately to compare pricing, category, and date availability.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53C3F-C7FB-4C76-A68B-4289F371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E1AB8-0AC7-42F4-938D-CB17E403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94D54-6DD5-4482-9F83-20D853DD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A2C"/>
                </a:solidFill>
              </a:defRPr>
            </a:pPr>
            <a:r>
              <a:rPr sz="1050" b="1">
                <a:solidFill>
                  <a:srgbClr val="C78A2C"/>
                </a:solidFill>
              </a:rPr>
              <a:t>Record issues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07772-8862-4E40-9026-0D4D0BFE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20383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Owners may rely on notebooks or spreadsheets, which makes real-time status visibility weak and hard to coordinate.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3829E-74D0-4CEB-B7B6-C13152A8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D4C55-866E-4441-ACD1-3E7127CB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B52EA-7E33-404A-8A06-304B5EDB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B4D"/>
                </a:solidFill>
              </a:defRPr>
            </a:pPr>
            <a:r>
              <a:rPr sz="1050" b="1">
                <a:solidFill>
                  <a:srgbClr val="D96B4D"/>
                </a:solidFill>
              </a:rPr>
              <a:t>Operational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40BCFA-DA97-4061-8BC4-5C9116ED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20383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Since information is fragmented, duplicate promises and booking conflicts can happen when multiple requests arrive together.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46010F-B700-48DD-B5E5-3E245109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264DA5-0981-4E3F-9F60-C969F1BD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91150"/>
            <a:ext cx="729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Time-consuming for customers and owners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C8E4BB-0D39-4958-965C-C9BB7C57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72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393C61-45D8-41EC-AB7D-9F676568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95950"/>
            <a:ext cx="729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No single platform for comparison and progress tracking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309CB-9B1D-4B00-9A45-5897FFB3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7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6CBE57-FE65-4712-BE47-C02A507E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00750"/>
            <a:ext cx="729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Poor transparency in booking status and review visibility</a:t>
            </a:r>
          </a:p>
        </p:txBody>
      </p:sp>
    </p:spTree>
    <p:extLst>
      <p:ext uri="{BB962C8B-B14F-4D97-AF65-F5344CB8AC3E}">
        <p14:creationId xmlns:p14="http://schemas.microsoft.com/office/powerpoint/2010/main" val="10044054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0E5FE-2909-4311-916F-73D81A12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4FF1F-794C-4684-A161-F52DBE08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AEC07-D649-4C00-83CF-FA54FEC3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52CE3-40B6-47B1-89E7-77A50D3F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E22DC-F3AC-4548-90C0-8CECF6A7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NEED FOR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A4EC4-F209-427F-B1CF-CFAA7439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04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053E0-CD70-4E1D-8FFF-3FC7BC49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06F88-482B-494B-8762-D025FE2D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6F9F5-C72C-43FD-B68D-A7C62C0E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896CD-3013-4029-8B13-28C95009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Need for the Proposed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02C69-48F8-434C-98B6-BF55858A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A web-based event management platform is needed to replace the fragmented and error-prone manual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4876E-3F51-495D-8679-F4C3914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2381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39679-3293-4DDE-82E3-03F502F8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CCF08-AF84-4807-8407-D291829E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3"/>
                </a:solidFill>
              </a:defRPr>
            </a:pPr>
            <a:r>
              <a:rPr sz="2250" b="1">
                <a:solidFill>
                  <a:srgbClr val="1E2933"/>
                </a:solidFill>
              </a:rPr>
              <a:t>OTP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33DE5-65CB-4230-83B4-2B9F8381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C76"/>
                </a:solidFill>
              </a:defRPr>
            </a:pPr>
            <a:r>
              <a:rPr sz="1125" b="0">
                <a:solidFill>
                  <a:srgbClr val="5F6C76"/>
                </a:solidFill>
              </a:rPr>
              <a:t>Authentication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9175F-493F-4672-895E-188BFAFF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Users can access booking actions through a controlled login and verification 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5FEFF-ED99-4BF9-9716-708A9414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38400"/>
            <a:ext cx="2381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04BF1-F69B-4E79-B2E3-5D71D4B8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3840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C686B-53FF-4965-B325-5D25A870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09850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3"/>
                </a:solidFill>
              </a:defRPr>
            </a:pPr>
            <a:r>
              <a:rPr sz="2250" b="1">
                <a:solidFill>
                  <a:srgbClr val="1E2933"/>
                </a:solidFill>
              </a:rPr>
              <a:t>HOLD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8F295-475C-44B9-87BF-B60BE5E9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C76"/>
                </a:solidFill>
              </a:defRPr>
            </a:pPr>
            <a:r>
              <a:rPr sz="1125" b="0">
                <a:solidFill>
                  <a:srgbClr val="5F6C76"/>
                </a:solidFill>
              </a:rPr>
              <a:t>Slot 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140919-282F-4702-830D-CCBDA75F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337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Availability checks and temporary holds reduce overlapping booking requests.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72DBD-9AA7-45D7-BE53-52E9E06A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38400"/>
            <a:ext cx="2381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C8497C-6CF8-47EC-9BD7-DF04C0AA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3840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01D14C-EFEA-4109-A1F5-7121D5B9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3"/>
                </a:solidFill>
              </a:defRPr>
            </a:pPr>
            <a:r>
              <a:rPr sz="2250" b="1">
                <a:solidFill>
                  <a:srgbClr val="1E2933"/>
                </a:solidFill>
              </a:rPr>
              <a:t>DB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015EA7-8EFF-4D41-9C73-C3E7A278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C76"/>
                </a:solidFill>
              </a:defRPr>
            </a:pPr>
            <a:r>
              <a:rPr sz="1125" b="0">
                <a:solidFill>
                  <a:srgbClr val="5F6C76"/>
                </a:solidFill>
              </a:rPr>
              <a:t>Centralized records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6D44EF-723B-4ABB-924A-6F66CA9C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Users, venues, bookings, reviews, and events are stored consistently.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374923-BEF8-409E-829E-132FEB56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76390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7998A-BC07-4EFA-BF0F-4C04A31D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16BC31-2ACD-4C51-BC4D-EB47910C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DF2FC0-2A3C-4800-A580-C13ABA73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697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Customers need faster venue discovery and better visibility into price, category, and status.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8FEBB9-CEB3-4C73-8977-FE304DE9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54D666-6F6C-409B-9556-A11570FE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697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Owners need organized tools for listing management, slot updates, and booking review.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DE56B6-CABE-4375-BECC-23E7D13C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E5DFAF-135C-43B5-A82A-BCC6C922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697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Administrators need role-based monitoring, user control, and system-wide operational oversight.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3A85D7-9F99-4E6B-BEFA-BD10DC9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0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79971A-F68D-40F6-AA65-DFA5359E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29250"/>
            <a:ext cx="697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The project should remain extensible for AI recommendations and stronger payment automation.</a:t>
            </a:r>
          </a:p>
        </p:txBody>
      </p:sp>
    </p:spTree>
    <p:extLst>
      <p:ext uri="{BB962C8B-B14F-4D97-AF65-F5344CB8AC3E}">
        <p14:creationId xmlns:p14="http://schemas.microsoft.com/office/powerpoint/2010/main" val="1499374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5B748-41F2-4CF6-8724-52875E29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7F0F4-41A1-4B75-86D4-AFF777B8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28448-02FB-4F16-B084-342A004E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DDF6F-7D73-4916-AFD8-774550EB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8D81E-F2B8-4E64-A165-88AE09ED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SCOPE OF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D5BB8-413E-42E6-A783-C0C5ED6A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05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C6A44-D6E7-492E-BEC5-252663A2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00B06-E15E-4A27-8548-5FBA2F5A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8ECA7-58FC-45FF-AF48-16FBF259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0724A-412D-44E7-9C99-F4AC50F1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Scope of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F31E1-C3BC-41EA-80B9-1EA01DDD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The project scope covers functional platform behavior, technical architecture, and academic software engineering deliverables.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8F5C2-6E31-4628-997F-54C03D18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DF75B-1848-4D7D-94B0-63AFAB86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7AE51-E623-442F-BB20-C517DCCE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67F"/>
                </a:solidFill>
              </a:defRPr>
            </a:pPr>
            <a:r>
              <a:rPr sz="1050" b="1">
                <a:solidFill>
                  <a:srgbClr val="16867F"/>
                </a:solidFill>
              </a:rPr>
              <a:t>Functional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87C75-79AD-4B0D-A7BC-CDBF60F1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943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Browse venues, show details, register and log in with OTP, initiate bookings, track status, submit reviews, and manage dashboards.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A463D-7B39-44A3-B7CB-3741F628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22C66-7ABF-4D9E-A4C8-769ADF73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D0BD3-C198-48B7-B6CA-3E78E686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A2C"/>
                </a:solidFill>
              </a:defRPr>
            </a:pPr>
            <a:r>
              <a:rPr sz="1050" b="1">
                <a:solidFill>
                  <a:srgbClr val="C78A2C"/>
                </a:solidFill>
              </a:rPr>
              <a:t>Technical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E1B8E-C312-45E4-AD3B-2016D909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1943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Use PHP, MySQL, HTML, CSS, and JavaScript in a modular controller-service-repository structure with external integration support.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DF236-C614-4866-84FD-91D608C5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4F06C-532F-49F1-BE01-20A1C928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3B9C9-9E5A-4D84-A304-37A2AAAB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9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B4D"/>
                </a:solidFill>
              </a:defRPr>
            </a:pPr>
            <a:r>
              <a:rPr sz="1050" b="1">
                <a:solidFill>
                  <a:srgbClr val="D96B4D"/>
                </a:solidFill>
              </a:rPr>
              <a:t>Academic 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83B7AC-EE83-4D3E-BECF-54614823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1943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Demonstrate requirement analysis, UML and flow diagrams, database design, implementation, testing, documentation, and user manuals.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D0B7AF-FC3F-4406-992F-861C7707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76009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B38317-98CF-4B05-8B40-B4671A88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7181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4E67"/>
                </a:solidFill>
              </a:defRPr>
            </a:pPr>
            <a:r>
              <a:rPr sz="1200" b="0">
                <a:solidFill>
                  <a:srgbClr val="2C4E67"/>
                </a:solidFill>
              </a:rPr>
              <a:t>Current limitations keep the focus on venue booking rather than full end-to-end event execution management.</a:t>
            </a:r>
          </a:p>
        </p:txBody>
      </p:sp>
    </p:spTree>
    <p:extLst>
      <p:ext uri="{BB962C8B-B14F-4D97-AF65-F5344CB8AC3E}">
        <p14:creationId xmlns:p14="http://schemas.microsoft.com/office/powerpoint/2010/main" val="226083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53D60-6378-4360-A738-AAFE66FA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89811-DBC2-4772-BAAD-4BE0041C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69D3F-B34A-4AC9-A687-B0FED52F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95745-FBE4-4947-B3F7-DDCF47DF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06772-3893-4F8A-81CE-F3B38D49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OPERATING ENVIRONMENT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E86BA-E725-4158-9492-A1870813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06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6DB8D-0ABD-4BC0-93D2-66C6E0A1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5229E-AB61-4520-BA39-44D99027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92A2A-9B5E-47D3-B232-D3B583DF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44275-C2E1-4A0B-929E-0152F67F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Operating Environment - Hardware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3890F-80E9-46CA-8D0A-BCE915EC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The project runs in a standard web application setup and does not require specialized hardware.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19D75-E3C7-4374-8278-16F7F80F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3C518-C2F1-4538-B535-1DAA120C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AC03C-531F-487C-8E9C-20BF36B7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3"/>
                </a:solidFill>
              </a:defRPr>
            </a:pPr>
            <a:r>
              <a:rPr sz="2250" b="1">
                <a:solidFill>
                  <a:srgbClr val="1E2933"/>
                </a:solidFill>
              </a:rPr>
              <a:t>i3+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1EE07-4EA9-456F-A335-8F1F72B2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C76"/>
                </a:solidFill>
              </a:defRPr>
            </a:pPr>
            <a:r>
              <a:rPr sz="1125" b="0">
                <a:solidFill>
                  <a:srgbClr val="5F6C76"/>
                </a:solidFill>
              </a:rPr>
              <a:t>Processor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C8BFF-71E3-4C7A-A111-B18E21C5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Intel Core i3, i5, or higher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19C21-32E7-4C24-B3B1-2C90A3FC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3840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EC329A-0469-40F5-ADC1-4C9A3CBA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384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4BEBB-828C-4593-9967-DCED312B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0985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3"/>
                </a:solidFill>
              </a:defRPr>
            </a:pPr>
            <a:r>
              <a:rPr sz="2250" b="1">
                <a:solidFill>
                  <a:srgbClr val="1E2933"/>
                </a:solidFill>
              </a:rPr>
              <a:t>4 GB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8BEB7-69A0-4174-8786-8DDE9BD5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C76"/>
                </a:solidFill>
              </a:defRPr>
            </a:pPr>
            <a:r>
              <a:rPr sz="1125" b="0">
                <a:solidFill>
                  <a:srgbClr val="5F6C76"/>
                </a:solidFill>
              </a:rPr>
              <a:t>Minimum RAM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2789C-2C6F-440E-9132-0520DA2B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337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8 GB is recommended for smoother 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78B0B-CF79-441B-98CB-524FC8E0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3840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9A61F8-4561-4DD7-9B19-AC925ED9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384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A5E882-AC51-4800-A67A-E42CD5ED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0985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3"/>
                </a:solidFill>
              </a:defRPr>
            </a:pPr>
            <a:r>
              <a:rPr sz="2250" b="1">
                <a:solidFill>
                  <a:srgbClr val="1E2933"/>
                </a:solidFill>
              </a:rPr>
              <a:t>20 GB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A4DA11-1E5D-45E7-AA09-F6E9C22D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289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C76"/>
                </a:solidFill>
              </a:defRPr>
            </a:pPr>
            <a:r>
              <a:rPr sz="1125" b="0">
                <a:solidFill>
                  <a:srgbClr val="5F6C76"/>
                </a:solidFill>
              </a:rPr>
              <a:t>Storage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9FF1BD-BF4D-43C5-B7AE-608A5C45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Free disk space for code, DB, and services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9A350B-75B1-4CB4-B639-7E67841A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3840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5798A8-A49C-448E-87CA-8E6C1729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384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2BBF25-9DBD-426B-A1DC-9463CC1A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3"/>
                </a:solidFill>
              </a:defRPr>
            </a:pPr>
            <a:r>
              <a:rPr sz="2250" b="1">
                <a:solidFill>
                  <a:srgbClr val="1E2933"/>
                </a:solidFill>
              </a:rPr>
              <a:t>Net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7CD1F3-A770-4905-851D-2753DFEF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C76"/>
                </a:solidFill>
              </a:defRPr>
            </a:pPr>
            <a:r>
              <a:rPr sz="1125" b="0">
                <a:solidFill>
                  <a:srgbClr val="5F6C76"/>
                </a:solidFill>
              </a:rPr>
              <a:t>Internet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5648E9-E467-4B23-B064-A1DE1D5A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337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Needed for payment, mail, or SMS integrations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AEC5E9-2025-442C-A537-36EA0E6E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82486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D23260-B354-4BCC-82A8-2878AB87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43B99F-9607-4C3D-91A3-3BFCC5CC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B51D66-3F9D-4DAE-9334-6BE3EFC0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758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Standard monitor or laptop screen is sufficient for development and demonstration.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595CF1-9A40-49EF-A47F-C5B5C775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79AD8F-EBCD-4746-AC85-C3D9BC5E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758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Keyboard and mouse support routine use, testing, and operator tasks.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BCA5B9-F980-4B11-A50B-450AAD6E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2106A4-BF86-4AEA-9929-BC28C40F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81600"/>
            <a:ext cx="758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The environment is practical for both local academic deployment and project demo setup.</a:t>
            </a:r>
          </a:p>
        </p:txBody>
      </p:sp>
    </p:spTree>
    <p:extLst>
      <p:ext uri="{BB962C8B-B14F-4D97-AF65-F5344CB8AC3E}">
        <p14:creationId xmlns:p14="http://schemas.microsoft.com/office/powerpoint/2010/main" val="13903104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1E6CC-1537-4F1C-BF94-97398A4C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D6EAE-372F-4C84-9ACB-A7B2A69A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25D50-55E0-42A8-9426-BD5661CE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E9F03-2C4A-4F51-A7EB-6F6E390E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02C78-9594-4BA1-B7A8-AEE4E8AB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OPERATING ENVIRONMENT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B4C46-F4CC-4FAB-B379-5256AD93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07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460DF-B73C-4783-8F02-D0ABA763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7E5D3-4094-4379-BB62-C803E4FF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44D20-99A8-486B-8F07-7EBE6CA5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A500C-D67F-4A47-8E47-721CF572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Operating Environment - Software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EE61E-34B8-493F-9152-98E8729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EMS2 is developed in a common Windows web-stack environment with optional service integrations.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6EBCE-4BBC-4A75-ABA6-F39CA1F3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81250" cy="28956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D3D4F-BB24-40C0-A91A-F432F37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762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CED29-C8AA-4816-BEAA-684896FE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67F"/>
                </a:solidFill>
              </a:defRPr>
            </a:pPr>
            <a:r>
              <a:rPr sz="1050" b="1">
                <a:solidFill>
                  <a:srgbClr val="16867F"/>
                </a:solidFill>
              </a:rPr>
              <a:t>Core software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E351B-84FA-42C3-91AB-41CB20EF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943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Windows 10 or 11, XAMPP, Apache, MySQL, PHP, and a browser such as Chrome, Edge, or Firefox.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B4001-D003-4FB2-BCE4-4BAB711A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2381250" cy="28956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FE178-466C-40FB-971A-E3DA7C77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762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DC7BC-A5A4-4CFE-9BD9-92A222CB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A2C"/>
                </a:solidFill>
              </a:defRPr>
            </a:pPr>
            <a:r>
              <a:rPr sz="1050" b="1">
                <a:solidFill>
                  <a:srgbClr val="C78A2C"/>
                </a:solidFill>
              </a:rPr>
              <a:t>Development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1F9C2E-AE81-424A-B96F-48871EEE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1943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VS Code or a similar IDE is used for coding, while Git supports version control and project tracking.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92AEF-17A6-4D5B-B2F1-3744473F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2381250" cy="28956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1F882-342F-4B56-9339-93A12785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762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EB9D5F-0E98-43EC-B04E-FB967776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9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B4D"/>
                </a:solidFill>
              </a:defRPr>
            </a:pPr>
            <a:r>
              <a:rPr sz="1050" b="1">
                <a:solidFill>
                  <a:srgbClr val="D96B4D"/>
                </a:solidFill>
              </a:rPr>
              <a:t>Optional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BAF3A-1C59-4B21-90D9-60D96AD8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1943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SMTP or PHPMailer, Razorpay-style payment support, Twilio, Python runtime, and Java runtime with Maven.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B6CA6E-0BD5-4822-B7B4-AB736569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7600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46AC09-3393-4848-85EA-E4E6ECEA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7200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4E67"/>
                </a:solidFill>
              </a:defRPr>
            </a:pPr>
            <a:r>
              <a:rPr sz="1200" b="0">
                <a:solidFill>
                  <a:srgbClr val="2C4E67"/>
                </a:solidFill>
              </a:rPr>
              <a:t>This environment keeps installation and testing accessible while still supporting multi-module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7344838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6173F-7F33-47B9-8AA1-C4839ADC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29EA5-3019-4FCF-9C29-80ED489E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14A53-311B-4CAF-B9BF-036B8F91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25278-601F-4ED8-BC24-36EA2B3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1B200-0FA3-4FCA-8060-1D5DB718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TECHNOLOGY USED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CFCCA-28FE-40B9-872A-B9885031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08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0C82C-791E-4174-A69F-1C4CC71B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1A6AF-22A1-4BFB-B113-EAB6E761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AE26D-3EE8-451F-8600-DD5FA647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677ED-1057-4DC1-8295-14981AFD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Detailed Description of the Technology Used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EC524-F7AC-436F-9361-61428631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The core stack combines backend logic, persistent storage, and front-end structure for a web-based booking platform.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FF9B1-1E05-4A48-8E51-D11C90A7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81250" cy="28384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FCE64-E61B-41CA-A85F-25BB240B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762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DFBBB-DCC1-491E-9C41-27A84617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67F"/>
                </a:solidFill>
              </a:defRPr>
            </a:pPr>
            <a:r>
              <a:rPr sz="1050" b="1">
                <a:solidFill>
                  <a:srgbClr val="16867F"/>
                </a:solidFill>
              </a:rPr>
              <a:t>PHP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1BAB6-23E1-4A18-A9CB-B4BC1F1E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943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Handles routing, session management, controller flow, form processing, and dynamic page rendering for the main web application.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FBEB6-D200-4030-9BAD-72AA0F25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2381250" cy="28384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87690-5A27-4D4C-83F6-78B0E887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762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87FC9-35A9-4A2D-8050-0E729D27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A2C"/>
                </a:solidFill>
              </a:defRPr>
            </a:pPr>
            <a:r>
              <a:rPr sz="1050" b="1">
                <a:solidFill>
                  <a:srgbClr val="C78A2C"/>
                </a:solidFill>
              </a:rPr>
              <a:t>MySQL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65985-1A57-4307-9A91-3CF5AC50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1943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Stores users, venues, slots, bookings, reviews, and webhook-related records in a structured relational database.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9AF7D-6147-47C4-BE40-E1823ED6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2381250" cy="28384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503E3-8FB1-4FF7-8D02-42D06460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762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E48930-C59B-4E36-AD50-362AC1DB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9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B4D"/>
                </a:solidFill>
              </a:defRPr>
            </a:pPr>
            <a:r>
              <a:rPr sz="1050" b="1">
                <a:solidFill>
                  <a:srgbClr val="D96B4D"/>
                </a:solidFill>
              </a:rPr>
              <a:t>HTML / CSS / JS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571CC-5E16-4F82-A8B2-96A1D61C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1943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Define page structure, styling, responsiveness, and client-side interaction across the public site and dashboard views.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D1910-DE72-4806-B173-4C69DA94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7600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104F04-6DF8-4D90-840E-EF704C99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7181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4E67"/>
                </a:solidFill>
              </a:defRPr>
            </a:pPr>
            <a:r>
              <a:rPr sz="1200" b="0">
                <a:solidFill>
                  <a:srgbClr val="2C4E67"/>
                </a:solidFill>
              </a:rPr>
              <a:t>Together, these technologies form the working foundation of the EMS2 website and dashboard experience.</a:t>
            </a:r>
          </a:p>
        </p:txBody>
      </p:sp>
    </p:spTree>
    <p:extLst>
      <p:ext uri="{BB962C8B-B14F-4D97-AF65-F5344CB8AC3E}">
        <p14:creationId xmlns:p14="http://schemas.microsoft.com/office/powerpoint/2010/main" val="9727355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8A462-4577-4967-AAB3-14C8A292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FA217-512A-4BB0-8EA5-06078232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91892-8CE7-411C-9A0B-924E2AD8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A15A8-3B60-498C-9B3E-EAAE3E3E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4834C-6737-4FE9-A92F-B7CD1AFB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TECHNOLOGY USED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6C64C-1D95-4B1D-923C-BC9662D1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09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58CC9-7417-4724-B4A0-3C40699A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BF912-9DC9-466F-851D-2C014BEA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9231F-6BE5-4C6D-B9AD-5FAD3B2F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4BB7F-C0F5-4D3D-8236-E74A37CA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Supporting Technologies and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B91D7-D9A7-4699-9808-0C9F390C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The architecture also includes local server tooling, communication services, and auxiliary modules for future growth.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BA94D-3FA5-425B-8CAA-FA2991E5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81250" cy="28956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DCEC1-B5EA-44AA-B496-BBEAF293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762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C6752-405C-4E92-84BE-63D0D2AC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67F"/>
                </a:solidFill>
              </a:defRPr>
            </a:pPr>
            <a:r>
              <a:rPr sz="1050" b="1">
                <a:solidFill>
                  <a:srgbClr val="16867F"/>
                </a:solidFill>
              </a:rPr>
              <a:t>Apache and XAMPP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CF0E8-A551-4A21-99B1-0BC97B97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943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Provide the local execution environment for PHP and MySQL, making academic setup and browser testing straightforward.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91EAD-AF3F-43AC-BA66-3B202797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2381250" cy="28956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C2313-B3C9-4494-8609-8769D7A4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762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C8DE1-46EC-4906-B29B-1ABFEA36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A2C"/>
                </a:solidFill>
              </a:defRPr>
            </a:pPr>
            <a:r>
              <a:rPr sz="1050" b="1">
                <a:solidFill>
                  <a:srgbClr val="C78A2C"/>
                </a:solidFill>
              </a:rPr>
              <a:t>PHPMailer / payment / SMS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106D1-1BA8-417A-81F9-72BE2E5B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1943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Support OTP delivery, booking-related payment flow, webhook handling, and owner notification capabilities.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B7E7A-A5CA-4F11-95EE-5BD9E514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2381250" cy="28956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D1366-3E98-45B7-89E1-4D786956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762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B20A6-0A1F-4934-AE66-C22D0BD1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9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B4D"/>
                </a:solidFill>
              </a:defRPr>
            </a:pPr>
            <a:r>
              <a:rPr sz="1050" b="1">
                <a:solidFill>
                  <a:srgbClr val="D96B4D"/>
                </a:solidFill>
              </a:rPr>
              <a:t>Python and Java modules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646490-B196-41E7-97A6-E6CF6EEE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1943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3"/>
                </a:solidFill>
              </a:defRPr>
            </a:pPr>
            <a:r>
              <a:rPr sz="1275" b="0">
                <a:solidFill>
                  <a:srgbClr val="1E2933"/>
                </a:solidFill>
              </a:rPr>
              <a:t>Extend the project with review sentiment scoring and concurrency-aware booking validation for future-ready architecture.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4A7098-AEC0-4F15-B683-67BBF8F5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41DE38-4F0C-43B8-9F60-4E1B41FF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62600"/>
            <a:ext cx="701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3"/>
                </a:solidFill>
              </a:defRPr>
            </a:pPr>
            <a:r>
              <a:rPr sz="1200" b="0">
                <a:solidFill>
                  <a:srgbClr val="1E2933"/>
                </a:solidFill>
              </a:rPr>
              <a:t>These modules make the system more serious than a basic CRUD demo.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C3CCBF-CF60-4BB2-886A-A6A89365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A8D378-0363-49C9-A647-50350A88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701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3"/>
                </a:solidFill>
              </a:defRPr>
            </a:pPr>
            <a:r>
              <a:rPr sz="1200" b="0">
                <a:solidFill>
                  <a:srgbClr val="1E2933"/>
                </a:solidFill>
              </a:rPr>
              <a:t>They also create a clean path for future enhancements without redesigning the core platform.</a:t>
            </a:r>
          </a:p>
        </p:txBody>
      </p:sp>
    </p:spTree>
    <p:extLst>
      <p:ext uri="{BB962C8B-B14F-4D97-AF65-F5344CB8AC3E}">
        <p14:creationId xmlns:p14="http://schemas.microsoft.com/office/powerpoint/2010/main" val="1548916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68236-2D00-4841-B84F-34E70B76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A4994-2ED1-4319-BCF5-F6031B50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F23B1-F443-44C8-A8E5-980F1B6C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90E02-45A5-494A-BF94-1E608224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4A7D9-A18D-4957-8854-85E7C25D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SCREENS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864BC-CC32-486B-AB64-87273F05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10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72027-0D58-4491-BFB0-3ADAF3F8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1214B-F7FB-4432-BF28-F5469772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5D0F8-C3E0-4F89-82CB-B58C52D8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4DE78-DBFE-49F7-9279-A0AAB6F1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Application Screens - Home and Venue Directory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3B689-4F57-486F-98B5-5C452666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These layouts are based on the actual view structure defined in the EMS2 public-facing pages.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69D7B-F69F-4ABA-AE77-F1C663F9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3733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7B394-AF6E-49D4-B02C-ED07820D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DE700-4F3E-48CA-8979-D6945E63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57"/>
                </a:solidFill>
              </a:defRPr>
            </a:pPr>
            <a:r>
              <a:rPr sz="1125" b="1">
                <a:solidFill>
                  <a:srgbClr val="0F5C57"/>
                </a:solidFill>
              </a:rPr>
              <a:t>Home Page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FB814-4850-44BE-BE52-B8ABCA34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3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B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0F85A-A1DF-44BF-9E7C-3047C08C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33"/>
                </a:solidFill>
              </a:defRPr>
            </a:pPr>
            <a:r>
              <a:rPr sz="1350" b="1">
                <a:solidFill>
                  <a:srgbClr val="1E2933"/>
                </a:solidFill>
              </a:rPr>
              <a:t>Discover Pune venues with live availability and cleaner booking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7DCA0-1EAA-4573-B947-40ADBC11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990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16867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415C4-727B-4A4A-82D3-812A37FF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71950"/>
            <a:ext cx="12001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4E7"/>
          </a:solidFill>
          <a:ln xmlns:a="http://schemas.openxmlformats.org/drawingml/2006/main" w="9525">
            <a:solidFill>
              <a:srgbClr val="C78A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792E97-2C75-4761-99D0-4DC831CE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95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14C06-4BDC-4447-BD0B-4416580E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29150"/>
            <a:ext cx="95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00B8E-958C-42FD-865A-218FE12D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29150"/>
            <a:ext cx="95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354A6B-1BD3-4C53-8904-84D11123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3733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F43FF9-520C-4599-8F4A-A962345F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9D460-B612-47AE-AE8E-229BCF1E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527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8A2C"/>
                </a:solidFill>
              </a:defRPr>
            </a:pPr>
            <a:r>
              <a:rPr sz="1125" b="1">
                <a:solidFill>
                  <a:srgbClr val="C78A2C"/>
                </a:solidFill>
              </a:rPr>
              <a:t>Venue Listing Page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DE4922-1590-43DD-8BA0-5F2C201F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990600" cy="2000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2EFB4B-BACD-4342-A18F-D0883C21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76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D66237-6060-4BC4-878B-76EBA5AD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00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5C57"/>
                </a:solidFill>
              </a:defRPr>
            </a:pPr>
            <a:r>
              <a:rPr sz="825" b="1">
                <a:solidFill>
                  <a:srgbClr val="0F5C57"/>
                </a:solidFill>
              </a:rPr>
              <a:t>Venue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3A75B8-8A18-4637-A3CD-FA8B2D94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57650"/>
            <a:ext cx="68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Category</a:t>
            </a:r>
          </a:p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Price</a:t>
            </a:r>
          </a:p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Capacity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578E4B-D9A4-4F7A-9F71-7BFF331C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33700"/>
            <a:ext cx="990600" cy="2000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737EC1-4CBF-492E-88D5-C5338D36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76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123CA6-48DC-4322-908D-3714C595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00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5C57"/>
                </a:solidFill>
              </a:defRPr>
            </a:pPr>
            <a:r>
              <a:rPr sz="825" b="1">
                <a:solidFill>
                  <a:srgbClr val="0F5C57"/>
                </a:solidFill>
              </a:rPr>
              <a:t>Venue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20B1EB-47B5-40A8-B14D-33862470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57650"/>
            <a:ext cx="68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Category</a:t>
            </a:r>
          </a:p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Price</a:t>
            </a:r>
          </a:p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Capacity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A25B05-AB6D-48D6-84AF-19958478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990600" cy="2000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675C7C-23F8-401B-BE4B-2A908D83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48000"/>
            <a:ext cx="76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5E90FC-7853-4A5F-8813-44CBA6C5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100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5C57"/>
                </a:solidFill>
              </a:defRPr>
            </a:pPr>
            <a:r>
              <a:rPr sz="825" b="1">
                <a:solidFill>
                  <a:srgbClr val="0F5C57"/>
                </a:solidFill>
              </a:rPr>
              <a:t>Venue 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309399-2EE7-45FD-9E10-2216264E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57650"/>
            <a:ext cx="68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Category</a:t>
            </a:r>
          </a:p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Price</a:t>
            </a:r>
          </a:p>
          <a:p xmlns:a="http://schemas.openxmlformats.org/drawingml/2006/main">
            <a:pPr algn="l">
              <a:defRPr sz="750" b="0">
                <a:solidFill>
                  <a:srgbClr val="5F6C76"/>
                </a:solidFill>
              </a:defRPr>
            </a:pPr>
            <a:r>
              <a:rPr sz="750" b="0">
                <a:solidFill>
                  <a:srgbClr val="5F6C76"/>
                </a:solidFill>
              </a:rPr>
              <a:t>Capacity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505f70b2c4abf"/>
          <a:stretch xmlns:a="http://schemas.openxmlformats.org/drawingml/2006/main"/>
        </p:blipFill>
        <p:spPr>
          <a:xfrm xmlns:a="http://schemas.openxmlformats.org/drawingml/2006/main">
            <a:off x="9734550" y="2476500"/>
            <a:ext cx="1581150" cy="15811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0EFE09-88DC-475E-8A3E-8E1E0EE4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05300"/>
            <a:ext cx="18288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732E9C-41F4-4BA3-9009-7B14CEF2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0530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9724E4-F479-4855-BCAA-468871FE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9580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4E67"/>
                </a:solidFill>
              </a:defRPr>
            </a:pPr>
            <a:r>
              <a:rPr sz="1050" b="1">
                <a:solidFill>
                  <a:srgbClr val="2C4E67"/>
                </a:solidFill>
              </a:rPr>
              <a:t>UI notes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4EBA88-53AB-40DF-8C7B-BCBDF70D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3870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3"/>
                </a:solidFill>
              </a:defRPr>
            </a:pPr>
            <a:r>
              <a:rPr sz="1200" b="0">
                <a:solidFill>
                  <a:srgbClr val="1E2933"/>
                </a:solidFill>
              </a:rPr>
              <a:t>The public site emphasizes venue discovery, featured sections, and quick access to detailed venue pages.</a:t>
            </a:r>
          </a:p>
        </p:txBody>
      </p:sp>
    </p:spTree>
    <p:extLst>
      <p:ext uri="{BB962C8B-B14F-4D97-AF65-F5344CB8AC3E}">
        <p14:creationId xmlns:p14="http://schemas.microsoft.com/office/powerpoint/2010/main" val="9604152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BAFE0-726C-4379-A39D-DEBC9B6F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6030D-C409-4987-94B5-B8D80032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0C997-CEFD-4D26-9A40-D1949D18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09549-9093-44E3-B0B5-12F4F22C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DCFDD-CF13-424D-98F6-2FD050F9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SCREENS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F1CFC-B66E-462F-87AC-E36C97F7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11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10E0E-64E2-426E-BC67-6A59F0BB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CBEEA-8965-4E2A-82C9-454A96B1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21E97-2C21-4548-9FE4-782EEAF7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3D21B-A0BB-49DC-B03C-2945EFBE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Application Screens - Venue Detail, Auth, and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DCB27-454D-4AFE-9BB5-81329A86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The system includes detailed venue interaction, OTP-based authentication, and role-sensitive dashboards.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043A1-508B-49A7-850C-F147B930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3733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82778-0C58-4735-8B67-D99BDEE4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4CC07-77DE-426A-B27D-916B8F2B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B4D"/>
                </a:solidFill>
              </a:defRPr>
            </a:pPr>
            <a:r>
              <a:rPr sz="1125" b="1">
                <a:solidFill>
                  <a:srgbClr val="D96B4D"/>
                </a:solidFill>
              </a:rPr>
              <a:t>Venue Detail Page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BB6B8-9C60-48F2-ADCB-A9270DC7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35B41-D814-4982-A3A6-7B200881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990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E5FE0-6170-4778-9228-1144424A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95750"/>
            <a:ext cx="990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1C66D-EE0D-415A-8EBF-0A369CBF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95750"/>
            <a:ext cx="990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F0114-825C-41B3-B0CE-69A0325C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3238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4C755-7418-4189-B23D-3A9D9226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E2933"/>
                </a:solidFill>
              </a:defRPr>
            </a:pPr>
            <a:r>
              <a:rPr sz="975" b="0">
                <a:solidFill>
                  <a:srgbClr val="1E2933"/>
                </a:solidFill>
              </a:rPr>
              <a:t>Gallery, reviews, booking planner, and event details appear on this page.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634AD-CCC8-4691-833C-B62B2E11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2095500" cy="3333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B4C5F-F658-4BAE-BB3D-90DCB261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59764-9E6E-4826-BB82-D5D031FB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527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57"/>
                </a:solidFill>
              </a:defRPr>
            </a:pPr>
            <a:r>
              <a:rPr sz="1125" b="1">
                <a:solidFill>
                  <a:srgbClr val="0F5C57"/>
                </a:solidFill>
              </a:rPr>
              <a:t>Login / Register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FB3F4C-7461-4D2F-A03B-3BB17F6C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9085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CDF041-884D-4A61-A450-FCB2C482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2425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22C13B-E4E9-44B6-9683-2CB6B7A4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5765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7A6782-C08A-42C6-84B3-D6D08310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4820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16867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1153F4-6E82-41DF-A1C5-D8BF48E0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054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C76"/>
                </a:solidFill>
              </a:defRPr>
            </a:pPr>
            <a:r>
              <a:rPr sz="975" b="0">
                <a:solidFill>
                  <a:srgbClr val="5F6C76"/>
                </a:solidFill>
              </a:rPr>
              <a:t>Identity input,</a:t>
            </a:r>
          </a:p>
          <a:p xmlns:a="http://schemas.openxmlformats.org/drawingml/2006/main">
            <a:pPr algn="l">
              <a:defRPr sz="975" b="0">
                <a:solidFill>
                  <a:srgbClr val="5F6C76"/>
                </a:solidFill>
              </a:defRPr>
            </a:pPr>
            <a:r>
              <a:rPr sz="975" b="0">
                <a:solidFill>
                  <a:srgbClr val="5F6C76"/>
                </a:solidFill>
              </a:rPr>
              <a:t>OTP verification,</a:t>
            </a:r>
          </a:p>
          <a:p xmlns:a="http://schemas.openxmlformats.org/drawingml/2006/main">
            <a:pPr algn="l">
              <a:defRPr sz="975" b="0">
                <a:solidFill>
                  <a:srgbClr val="5F6C76"/>
                </a:solidFill>
              </a:defRPr>
            </a:pPr>
            <a:r>
              <a:rPr sz="975" b="0">
                <a:solidFill>
                  <a:srgbClr val="5F6C76"/>
                </a:solidFill>
              </a:rPr>
              <a:t>and guided sign-in 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08E588-7205-450B-B769-96FE5710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1885950" cy="33337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0EF85D-D623-436A-AF4E-B251933F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394C22-4AB5-4C80-8E6F-E417B6FA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52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4E67"/>
                </a:solidFill>
              </a:defRPr>
            </a:pPr>
            <a:r>
              <a:rPr sz="1125" b="1">
                <a:solidFill>
                  <a:srgbClr val="2C4E67"/>
                </a:solidFill>
              </a:rPr>
              <a:t>Dashboard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C19ADB-4DDF-473F-9E5D-F82D5279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90850"/>
            <a:ext cx="552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630ECE-6223-478B-A87D-36880234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0850"/>
            <a:ext cx="552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6041A5-E646-4505-A8F5-50D1B5EB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552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CC54CD-84F9-4ED9-B2C9-0ADB6FE0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552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9CDC0B-FC11-4D8D-9506-80B66D66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62450"/>
            <a:ext cx="13906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2354E3-B37A-4925-B674-6D7E50B0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245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C76"/>
                </a:solidFill>
              </a:defRPr>
            </a:pPr>
            <a:r>
              <a:rPr sz="900" b="0">
                <a:solidFill>
                  <a:srgbClr val="5F6C76"/>
                </a:solidFill>
              </a:rPr>
              <a:t>Role-specific metrics, booking review panels, and management actions.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1C96D0-1048-4393-AAD8-4E83E40C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38400"/>
            <a:ext cx="1962150" cy="3162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91BF2A-7DCC-4152-864A-9F29CF3C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38400"/>
            <a:ext cx="762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D26B18-A477-49FF-A7FF-4CDF6FD8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2890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A2C"/>
                </a:solidFill>
              </a:defRPr>
            </a:pPr>
            <a:r>
              <a:rPr sz="1050" b="1">
                <a:solidFill>
                  <a:srgbClr val="C78A2C"/>
                </a:solidFill>
              </a:rPr>
              <a:t>Screen interpretation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CA508C-9703-4BF3-B28D-1800A5AB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71800"/>
            <a:ext cx="1524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3"/>
                </a:solidFill>
              </a:defRPr>
            </a:pPr>
            <a:r>
              <a:rPr sz="1200" b="0">
                <a:solidFill>
                  <a:srgbClr val="1E2933"/>
                </a:solidFill>
              </a:rPr>
              <a:t>The current codebase defines dedicated views for home, venues, venue detail, login, register, OTP verification, bookings, and dashboard operations.</a:t>
            </a:r>
          </a:p>
        </p:txBody>
      </p:sp>
    </p:spTree>
    <p:extLst>
      <p:ext uri="{BB962C8B-B14F-4D97-AF65-F5344CB8AC3E}">
        <p14:creationId xmlns:p14="http://schemas.microsoft.com/office/powerpoint/2010/main" val="7408561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BBE9C-98F5-4E46-AF7A-7A6BA8BD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7E1D7-5F41-451C-AEFE-9D68AB1E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38DB3-749C-47FE-8CB0-1FF23B46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0CD8B-CBF0-4163-8CBF-A194A09F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13B9F-CF22-440F-85F8-3BF01A53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DIAGRAMS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A37C7-0C12-4A9A-AE36-432406C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12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C4D2A-A58B-46CA-AE97-23FB618F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68D0F-1FDB-4271-8369-7FFBEE99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DCE9C-5D24-4735-A2C9-3B1D9757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E4181-3652-4142-A156-FEB840D5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System Flow Diagram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5DEA1-DE9E-47F6-A479-E7CC7173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The overall workflow moves from discovery to authentication, booking, storage, and owner or admin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412CF-E559-4D98-889A-FF78FA28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914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30836-3ACB-40B5-9D24-9A66459A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10584-7B03-46E7-BA7E-CA8C2B80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933"/>
                </a:solidFill>
              </a:defRPr>
            </a:pPr>
            <a:r>
              <a:rPr sz="975" b="0">
                <a:solidFill>
                  <a:srgbClr val="1E2933"/>
                </a:solidFill>
              </a:rPr>
              <a:t>Open website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A0C25-6058-48D8-8833-47AB1BCF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385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94644-5E22-4699-BD64-C72720A7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623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83145-2D52-493E-AB1B-38815874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38500"/>
            <a:ext cx="914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FDEFA-67AE-4326-AE58-924638E4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385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D5DE7-4894-4B69-9D39-3D81B9E2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861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933"/>
                </a:solidFill>
              </a:defRPr>
            </a:pPr>
            <a:r>
              <a:rPr sz="975" b="0">
                <a:solidFill>
                  <a:srgbClr val="1E2933"/>
                </a:solidFill>
              </a:rPr>
              <a:t>Browse venues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5C614-8CF3-4844-9BEF-10B2DF84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385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198F4-9791-4DEA-BA67-5C023912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623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88329-37E4-45D0-AEB0-4AB4EE70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38500"/>
            <a:ext cx="914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D3447-441A-49AC-A5AA-7E1C2742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385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CC1FA1-6F68-4604-9977-4C4F4100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861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933"/>
                </a:solidFill>
              </a:defRPr>
            </a:pPr>
            <a:r>
              <a:rPr sz="975" b="0">
                <a:solidFill>
                  <a:srgbClr val="1E2933"/>
                </a:solidFill>
              </a:rPr>
              <a:t>View details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850B0-C0C1-46F9-9A7D-EB97D312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385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F9A061-CF64-4145-9DC5-9B3CF3FF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623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E68CA2-91E7-464C-B4DA-ED67049F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38500"/>
            <a:ext cx="914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844EE6-7EC2-490A-BC84-5B33B94F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385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BE614D-65BB-420C-9210-8C49D545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861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933"/>
                </a:solidFill>
              </a:defRPr>
            </a:pPr>
            <a:r>
              <a:rPr sz="975" b="0">
                <a:solidFill>
                  <a:srgbClr val="1E2933"/>
                </a:solidFill>
              </a:rPr>
              <a:t>Select slot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89196F-839E-4EBB-9CBC-C0905CDD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385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D38A57-BE3C-4B9F-B27B-002192A9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623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9C6D57-690C-4789-AA05-F749B785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38500"/>
            <a:ext cx="914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AFDC24-3D42-40C2-ABAA-3942849E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385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340413-6D46-4139-8190-11C3F168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861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933"/>
                </a:solidFill>
              </a:defRPr>
            </a:pPr>
            <a:r>
              <a:rPr sz="975" b="0">
                <a:solidFill>
                  <a:srgbClr val="1E2933"/>
                </a:solidFill>
              </a:rPr>
              <a:t>OTP login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BE18C5-7409-4215-890D-073A70D2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385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E42C40-7DB6-4427-8243-CE5BEDFA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623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A9DEC2-0B0A-4BC5-96C3-BCB8D831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38500"/>
            <a:ext cx="914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CCDDFB-11C4-4439-80A6-7F08D6BD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385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2A6727-C0E3-488A-8E98-9341E3BC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861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933"/>
                </a:solidFill>
              </a:defRPr>
            </a:pPr>
            <a:r>
              <a:rPr sz="975" b="0">
                <a:solidFill>
                  <a:srgbClr val="1E2933"/>
                </a:solidFill>
              </a:rPr>
              <a:t>Create hold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30A465-2563-4086-A181-E3358CFD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E4941E-EC82-46AD-8C22-0FE38BF1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623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D067A8-8C65-405D-866B-3100169B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38500"/>
            <a:ext cx="914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83010D-4877-4A33-9860-335ED404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385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43B19C-18AB-4E4B-A327-673D26DC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861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933"/>
                </a:solidFill>
              </a:defRPr>
            </a:pPr>
            <a:r>
              <a:rPr sz="975" b="0">
                <a:solidFill>
                  <a:srgbClr val="1E2933"/>
                </a:solidFill>
              </a:rPr>
              <a:t>Pending booking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D06250-7E60-4701-85DA-F08B4426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385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8CF78A-ED4A-41AF-8D79-FD606279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E36238-1DED-440C-8D4F-507313D2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914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2CD183-4D96-41AD-9CA3-5228CDDA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CC8040-7012-46D9-A204-30A04A3A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933"/>
                </a:solidFill>
              </a:defRPr>
            </a:pPr>
            <a:r>
              <a:rPr sz="975" b="0">
                <a:solidFill>
                  <a:srgbClr val="1E2933"/>
                </a:solidFill>
              </a:rPr>
              <a:t>Review decision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97BF36-69F0-48B1-BCD0-B38AEB9B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86300"/>
            <a:ext cx="56007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338D05-683D-4472-8DBE-B21331F6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72050"/>
            <a:ext cx="508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4E67"/>
                </a:solidFill>
              </a:defRPr>
            </a:pPr>
            <a:r>
              <a:rPr sz="1200" b="0">
                <a:solidFill>
                  <a:srgbClr val="2C4E67"/>
                </a:solidFill>
              </a:rPr>
              <a:t>If the user is not authenticated, the system redirects to login or registration, verifies OTP, and then resumes the booking workflow without losing the intended action.</a:t>
            </a:r>
          </a:p>
        </p:txBody>
      </p:sp>
    </p:spTree>
    <p:extLst>
      <p:ext uri="{BB962C8B-B14F-4D97-AF65-F5344CB8AC3E}">
        <p14:creationId xmlns:p14="http://schemas.microsoft.com/office/powerpoint/2010/main" val="704553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EAAFA-67F7-48AE-9B46-D2F8DB5C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A17C1-7D9F-49CA-AF73-1F8F3276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E915B-8E57-4997-8C72-E07A4BDD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DB599-D801-4D01-8D05-3F61A919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FF1B4-EC27-4BB0-B2D4-7BF0BAF1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DIAGRAMS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CDC88-16DF-4FF1-AC59-E7D46EDD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13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AF7EA-B040-4527-89F9-81F24DC7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F93AA-6AAA-4673-9678-922DB996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05023-B0C4-4433-8EBD-A39D9F57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A4327-61D1-4B57-82D1-B9E44A6E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Use Case Diagram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422D3-45D1-489E-89A6-2458151E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EMS2 is organized around customer, owner, and administrator actions with different responsibilities.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E88B9-FB3D-4750-9156-253CDDBB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790700" cy="1809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C7C45-FA81-4DF9-B854-484E851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6274A-D2B1-4DC2-875E-7AD12033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67F"/>
                </a:solidFill>
              </a:defRPr>
            </a:pPr>
            <a:r>
              <a:rPr sz="1125" b="1">
                <a:solidFill>
                  <a:srgbClr val="16867F"/>
                </a:solidFill>
              </a:rPr>
              <a:t>Customer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99D4B-3F10-41F5-961B-0EDE2F24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FACB2-EDE1-42DC-BDB0-AAB55EF8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004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Browse venues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54D39-8A59-448F-B5EF-3B924442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C0A44-B212-4BD1-938D-D519179D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View details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614D7-DB57-4F68-8E5A-BA62CA56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4F814-5F1A-42AA-95A9-2D86F763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Register / login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DC2E2-4293-40AB-8DD7-878B841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4CB859-6F19-4C17-BAD7-690D531D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Book venue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EAD1A-7039-405C-B350-EFDF0604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12326A-BD51-4A35-9988-87C4F752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672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View bookings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982CCE-6B78-4A33-8DF4-099941AF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56BACA-3E0B-4860-A60B-C19E85C9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339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Submit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29B96E-BBEA-4275-9E67-67076CAB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17907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6676C6-F9B2-4F14-915A-5CCB7E8A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AA5F1C-429E-4662-B7C9-EAD15CE7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8A2C"/>
                </a:solidFill>
              </a:defRPr>
            </a:pPr>
            <a:r>
              <a:rPr sz="1125" b="1">
                <a:solidFill>
                  <a:srgbClr val="C78A2C"/>
                </a:solidFill>
              </a:rPr>
              <a:t>Owner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EBA83B-498D-412A-9ED1-0E67D674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721BB6-8300-4BE3-B562-2FCCCED0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04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Manage venues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5371E7-0EC0-491C-A2FE-4A9D8100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A22E60-B55B-4876-9878-2E8C5782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71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Update slots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6DD06A-D4A3-4498-8CCB-8DD113DB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EC81D6-7F18-4CEE-9F09-2B803473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Review bookings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7533EB-DCA2-45A0-AF5D-C6DB5488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1790700" cy="1809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5CAEB3-0ABA-4F71-A684-C7F12A0D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AAAE97-FFE0-493F-9337-71893B22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B4D"/>
                </a:solidFill>
              </a:defRPr>
            </a:pPr>
            <a:r>
              <a:rPr sz="1125" b="1">
                <a:solidFill>
                  <a:srgbClr val="D96B4D"/>
                </a:solidFill>
              </a:rPr>
              <a:t>Administrator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8A716F-8615-463C-BDD2-56453F88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C59B6D-F3FB-40FB-AC17-42CF1E2F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004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Manage users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753080-80EB-4F9C-B913-1020AA67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B90334-9D22-428C-9F08-A01F1EEB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671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Change roles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1ED6CC-CB84-4526-8DCD-78DFD7E6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C1DD28-FCC4-4CD3-8D71-D06A956B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Toggle status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8A8BF5-31FF-49F2-A15B-22461DAA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54BFAA-16BB-46A2-8B5B-2483EB0D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005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Monitor bookings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4666C4-3BF8-4DAC-9A15-24F6E89C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9900"/>
            <a:ext cx="17907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11BF46-EEE4-4951-829E-30E1C97C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99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AEA1E9-42FD-42C5-A49A-6A5F4C1E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00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4E67"/>
                </a:solidFill>
              </a:defRPr>
            </a:pPr>
            <a:r>
              <a:rPr sz="1125" b="1">
                <a:solidFill>
                  <a:srgbClr val="2C4E67"/>
                </a:solidFill>
              </a:rPr>
              <a:t>Shared platform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F1A175-9A4C-4137-99A3-76ED06DE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853492-B681-4715-99C5-3C82B641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Dashboard access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95D9ED-978A-45C5-8C38-A80A4B6E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F143A0-A424-45DA-95AD-4181CFD5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100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Operational visibility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0B87FE-F01E-445D-97F1-8EDB70B9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18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94A73B-5C10-4486-9323-3A496AF7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39A287-D260-4280-B3D9-1637B01A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4A040F-5658-41CA-8AB0-0A87C63F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956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03A5DD-C222-4B64-BA79-CB8E72C4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61928E-0C09-48A0-AEB8-36D38D94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956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B77F20-D4F0-4EBD-A724-89191A32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53000"/>
            <a:ext cx="62293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463817-C57B-48BC-A67F-D392A3AD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38750"/>
            <a:ext cx="565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4E67"/>
                </a:solidFill>
              </a:defRPr>
            </a:pPr>
            <a:r>
              <a:rPr sz="1275" b="0">
                <a:solidFill>
                  <a:srgbClr val="2C4E67"/>
                </a:solidFill>
              </a:rPr>
              <a:t>This role-based design keeps user journeys focused while still preserving centralized platform control.</a:t>
            </a:r>
          </a:p>
        </p:txBody>
      </p:sp>
    </p:spTree>
    <p:extLst>
      <p:ext uri="{BB962C8B-B14F-4D97-AF65-F5344CB8AC3E}">
        <p14:creationId xmlns:p14="http://schemas.microsoft.com/office/powerpoint/2010/main" val="20694808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E23BD-72A9-4225-A80D-C2A99B69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B1C51-61CA-4EB2-9CA7-AA69BC15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34EA0-D1CE-46DB-9C74-BD7933B8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58748-2754-4D1B-A461-8DA7688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48950-56EF-4B4A-B3E1-ABF3214A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DIAGRAMS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A52D7-7D01-4A3C-B930-EEFFC61F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14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F9AB1-92C5-484A-91DF-490413A9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1A5EA-7155-4EB1-96B7-7AAB1B1D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D7D24-BD6F-42FE-82DE-259D8B25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DA1F0-3090-4CEF-B682-F77F7FC9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Class and Design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964AF-3FC0-4F39-81CF-02FAA60A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The PHP application follows a modular structure using core classes, controllers, repositories, and services.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8B53C-E8CB-4AF0-83E7-F3971137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000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B1BE8-6944-4C42-95F7-A18CBEAB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4612E-68B0-4D8C-BD2E-E5A9FD1C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67F"/>
                </a:solidFill>
              </a:defRPr>
            </a:pPr>
            <a:r>
              <a:rPr sz="1125" b="1">
                <a:solidFill>
                  <a:srgbClr val="16867F"/>
                </a:solidFill>
              </a:rPr>
              <a:t>Core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2382E-4775-4D8E-A57D-87439959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F3905-E675-4FA0-8996-B921B246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Config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FBD24-288A-4AE7-B88B-85ECAE48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D7698-C0F9-4EE4-A2EC-3354E30B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Database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746049-23B5-472F-9A4C-ED34C520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47FE2-163B-4B2F-8B81-217186B4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Env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C5EE0B-6DD7-44F4-A617-243E8166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DC24E-7943-4111-A384-9E479EF7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671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Router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A08D5C-DA79-45D5-9F4A-E08D8513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FCBC2-917A-4FF6-9E55-9505A71C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338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Controller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21A172-C2B1-4162-AEBF-5827DB3F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22479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22BF4C-5B15-4913-9B7C-102C9F57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B78F8-896C-4AB7-9FD3-84A847FB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955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8A2C"/>
                </a:solidFill>
              </a:defRPr>
            </a:pPr>
            <a:r>
              <a:rPr sz="1125" b="1">
                <a:solidFill>
                  <a:srgbClr val="C78A2C"/>
                </a:solidFill>
              </a:rPr>
              <a:t>Controllers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B22B89-375F-4230-8F69-F2B26218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1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B7FF9D-7C0C-49C6-9822-B9E396BA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384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AuthController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1D5993-22D9-49D5-87B5-22B53478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9E4051-FD52-40A2-ACAE-2A7FA380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051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BookingsController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6BF300-A3C5-4B79-8D19-CFA7B2EA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97DA72-686E-4DDF-87C9-A8855F32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718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DashboardController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DEDF68-0C3D-42E7-B040-88D793DF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A1C9A4-A165-439D-99AC-3ABB1EB4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385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HomeController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D55F1A-DA2E-49E0-A9C6-7A72AA58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4C7950-9169-4859-986E-30539152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052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PaymentController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A9B04B-081D-49E8-AA2D-AE65EEE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22669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9F4A32-4D77-45EA-92E8-BB954381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80A77C-092A-4738-887E-1656AFC6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B4D"/>
                </a:solidFill>
              </a:defRPr>
            </a:pPr>
            <a:r>
              <a:rPr sz="1125" b="1">
                <a:solidFill>
                  <a:srgbClr val="D96B4D"/>
                </a:solidFill>
              </a:rPr>
              <a:t>Repositories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401C8B-8893-4D23-B805-566A8839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26F89A-15CD-4807-B987-3B60F206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UserRepository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74066F-32EC-467C-B301-B02DAF28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95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8F962C-646A-41CE-889A-41EC279B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1945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VenueRepository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20A140-31DE-4EA0-BF35-AE019A50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E9A7A7-81AC-498C-8949-DEEC5E76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BookingRepository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0C147D-7DF4-4C3F-9DA1-E8651F44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901980-14FD-474B-A2CB-7A410CD3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5285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WebhookEventRepository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D07BDB-2797-4A57-B671-E7C32429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71700"/>
            <a:ext cx="2247900" cy="23241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05E8BD-B6E2-4298-B392-D43733E7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717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BFD6A7-636C-4E32-97C5-82C2A124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622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4E67"/>
                </a:solidFill>
              </a:defRPr>
            </a:pPr>
            <a:r>
              <a:rPr sz="1125" b="1">
                <a:solidFill>
                  <a:srgbClr val="2C4E67"/>
                </a:solidFill>
              </a:rPr>
              <a:t>Services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340F6C-A327-48A0-9CA3-25814F00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AB2CCA-0876-4F52-B404-02A350E9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051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MailOtpService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FE867D-75CD-443D-ADAA-29323ADC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62A88E9-F163-4D45-91AC-217ADEF5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718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VenueCatalogService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9CEEE1-4F6E-4EF8-B362-94CBA60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86AB0D-D5A8-4F60-BAAF-33CB6A4B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385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RazorpayWebhookService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4FE34A-ECE8-411C-8EAD-A305183C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50158C-A0B6-4022-A975-9BC982D5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TwilioService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2FF860-BC65-4B43-9286-A5B20466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B68A35-D66D-4C44-9EEF-A33048C6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BookingValidatorClient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644AE2-8686-4B8B-9908-9CD6A405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DA0141-11AE-452F-AF09-67A31AD9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GoogleOAuthService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D4E92D5-DDF6-4F85-BCD0-FC3CED92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C957552-357A-42B6-AE20-63583EBE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575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79E235-4249-4870-99D4-A692CB7D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337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5621CB6-E5A0-4A2A-A658-F54983A2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575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70A3EBF-1646-4474-88AD-6BFCC8B1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008F453-0B0F-4F39-A752-67F772E3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8FD6759-412B-4E6C-8401-FFEC101A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67300"/>
            <a:ext cx="5829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79B3A78-65F4-456C-99AC-FC709556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525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4E67"/>
                </a:solidFill>
              </a:defRPr>
            </a:pPr>
            <a:r>
              <a:rPr sz="1200" b="0">
                <a:solidFill>
                  <a:srgbClr val="2C4E67"/>
                </a:solidFill>
              </a:rPr>
              <a:t>This separation of responsibilities improves maintainability and keeps request flow, data access, and integration logic organized.</a:t>
            </a:r>
          </a:p>
        </p:txBody>
      </p:sp>
    </p:spTree>
    <p:extLst>
      <p:ext uri="{BB962C8B-B14F-4D97-AF65-F5344CB8AC3E}">
        <p14:creationId xmlns:p14="http://schemas.microsoft.com/office/powerpoint/2010/main" val="11379600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9AE66-48A3-425B-A670-F17324E9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B46F3-5D70-4F15-A485-D425B115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A1C1B-F796-4768-B5EC-D2755345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F053F-8CEB-49AB-A307-C631DF2E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210AC-5288-4B9E-91C8-8A3A63C3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DIAGRAMS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C7948-7A14-4893-8805-7283D3EE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15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F36F2-2CF8-4858-95E5-75F4C096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B5572-3845-4882-A7BC-E4C61F0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CCEF3-AABC-4FE3-A2FB-43C70DDC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8DA1E-9A3C-45B3-8BE3-AC3B3BE4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Sequence and Activity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94411-6F44-42C7-99CC-D52295F2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The booking workflow coordinates UI, controller logic, repositories, and the database in an ordered sequence.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4B5B2-2672-44B1-A2B0-D85E14C7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67F"/>
                </a:solidFill>
              </a:defRPr>
            </a:pPr>
            <a:r>
              <a:rPr sz="1050" b="1">
                <a:solidFill>
                  <a:srgbClr val="16867F"/>
                </a:solidFill>
              </a:rPr>
              <a:t>Customer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0456A-9EF8-42DE-A187-1A263FC4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8130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7AEFC-6E32-489A-B97C-90585024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76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A2C"/>
                </a:solidFill>
              </a:defRPr>
            </a:pPr>
            <a:r>
              <a:rPr sz="1050" b="1">
                <a:solidFill>
                  <a:srgbClr val="C78A2C"/>
                </a:solidFill>
              </a:rPr>
              <a:t>Web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99EEE-2E42-4F37-A95A-0BB3F1A9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A1E53-D413-4A05-A35A-6A1BA47B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B4D"/>
                </a:solidFill>
              </a:defRPr>
            </a:pPr>
            <a:r>
              <a:rPr sz="1050" b="1">
                <a:solidFill>
                  <a:srgbClr val="D96B4D"/>
                </a:solidFill>
              </a:rPr>
              <a:t>Controller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8C93E-32A5-400A-9F76-5F6F1DFC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7DC5B-CC31-4D95-9902-D4EF0BD8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76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4E67"/>
                </a:solidFill>
              </a:defRPr>
            </a:pPr>
            <a:r>
              <a:rPr sz="1050" b="1">
                <a:solidFill>
                  <a:srgbClr val="2C4E67"/>
                </a:solidFill>
              </a:rPr>
              <a:t>Repository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734C8-D34C-4750-9C5E-58C2BBC6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65B01-EB06-4605-8539-77D3CDA2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76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5C57"/>
                </a:solidFill>
              </a:defRPr>
            </a:pPr>
            <a:r>
              <a:rPr sz="1050" b="1">
                <a:solidFill>
                  <a:srgbClr val="0F5C57"/>
                </a:solidFill>
              </a:rPr>
              <a:t>Database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473B68-97C2-42B8-AAE2-2F81FF1C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8130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302AEF-6733-4F28-A186-1A70D917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0"/>
            <a:ext cx="1085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CCCB86-5555-4998-859F-23AE73D3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718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45752-0D28-4026-B025-0A7E281C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575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Select venue and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5BA3B3-3E62-4C29-8E41-0C1716A2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67100"/>
            <a:ext cx="1085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1F4E48-DA2D-4247-B109-0C7A1597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909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7E7AB3-47FA-47F1-9955-92205684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766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POST booking request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413C9B-7E16-4557-8A23-28C7AFF2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86200"/>
            <a:ext cx="1085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EA40C0-9406-4743-B7D1-2E8CA78B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10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FD969-346B-49A1-8940-99E06EC4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Resolve slot and validate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9EA157-4A8F-4A4F-B634-696C3D96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05300"/>
            <a:ext cx="1085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A5B2BE-AF03-459C-B2BB-4EE9E1A9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291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272C3F-0C13-42D6-889A-01DE5ABA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148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Read / update records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D36565-25CE-4012-BF24-1A6540AC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-2114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ECCC91-0ED0-414A-8659-3D1CBD3C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482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F38813-D149-412A-BDB7-5E5477CD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339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Return slot state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EC0516-BE3A-4004-8570-176E3419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43500"/>
            <a:ext cx="-2114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E0746D-0732-4859-8858-3249901E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673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619DD6-FFD1-485A-87C0-8F9D48DE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530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Booking saved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E0F761-1B1C-4431-8099-A134AA21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62600"/>
            <a:ext cx="-2114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4DCFE7-FFD0-4617-9E53-1B049959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864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DF6D3C-05C6-4EF1-A63B-E4ECF071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72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Show payment step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C47403-AAFF-4BDE-9806-E37D3F21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09850"/>
            <a:ext cx="2171700" cy="24574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341EE0-7CCA-4FCA-9054-B29FDF9A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165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Activity logic:</a:t>
            </a:r>
          </a:p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1. Browse venues</a:t>
            </a:r>
          </a:p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2. Choose slot</a:t>
            </a:r>
          </a:p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3. Authenticate</a:t>
            </a:r>
          </a:p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4. Validate availability</a:t>
            </a:r>
          </a:p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5. Create hold</a:t>
            </a:r>
          </a:p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6. Create booking</a:t>
            </a:r>
          </a:p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7. Review outcome</a:t>
            </a:r>
          </a:p>
        </p:txBody>
      </p:sp>
    </p:spTree>
    <p:extLst>
      <p:ext uri="{BB962C8B-B14F-4D97-AF65-F5344CB8AC3E}">
        <p14:creationId xmlns:p14="http://schemas.microsoft.com/office/powerpoint/2010/main" val="1786422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21E79-5336-4E4F-831F-AFAD3ACF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251C4-5329-4617-8235-79C82E57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0F299-35E7-4650-9B77-512A1472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4A9FC-252E-444C-A0DC-DB9B6AB3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53D4B-C201-4DC1-9F59-92FC40CF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DIAGRAMS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8189D-B169-4C08-857F-D83B6B8C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16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12850-106E-4AB0-9B6D-EB307CDF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18628-4899-4DEF-8923-5958F1B4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EB4D0-FC42-498E-BD35-C4B28EF4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30805-6204-423D-A3FB-2DC9802D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Deployment Diagram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1D4F0-742B-43DD-BA11-6355BB59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The deployed structure connects a client browser to the PHP web app, the database, and external support services.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D3E4B-48ED-4D76-83A1-CCFE77D4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79FA6-03AA-4592-BD31-94546287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F9A53-5CD1-4794-9EBD-12A25481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67F"/>
                </a:solidFill>
              </a:defRPr>
            </a:pPr>
            <a:r>
              <a:rPr sz="1125" b="1">
                <a:solidFill>
                  <a:srgbClr val="16867F"/>
                </a:solidFill>
              </a:rPr>
              <a:t>Client browser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4C9C4-B939-4A66-BAB0-B6D00E35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C1BD1-43E6-4288-B4E4-5BFED9E0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Home, venues, booking,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918AC-99DA-4A9B-850B-81A92A5A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22479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F96CA-B014-4642-9B2B-70429B43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A011F-A4A0-4FBA-B552-9EAAD083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8A2C"/>
                </a:solidFill>
              </a:defRPr>
            </a:pPr>
            <a:r>
              <a:rPr sz="1125" b="1">
                <a:solidFill>
                  <a:srgbClr val="C78A2C"/>
                </a:solidFill>
              </a:rPr>
              <a:t>PHP web 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E53CF-6026-4A46-ADAF-5D32CC44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C913E-F4C7-4ECC-9DF9-5E1A079B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575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Apache / XAMPP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4B5D4-DCD0-4D13-8991-35D1337D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101C2-88D6-44B1-8143-785C7FCC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Routing and sessions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E22DB9-E29C-4A0F-B482-9C64F1D9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00C27-33A6-4AC3-98E3-84B96089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Business logic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8672B9-BA5D-404B-8D8C-2FF62322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2FB92-A924-47A5-BFE4-C413AB30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289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FBCC24-4490-4B20-BE6D-095EEE77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194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B4D"/>
                </a:solidFill>
              </a:defRPr>
            </a:pPr>
            <a:r>
              <a:rPr sz="1125" b="1">
                <a:solidFill>
                  <a:srgbClr val="D96B4D"/>
                </a:solidFill>
              </a:rPr>
              <a:t>MySQL database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115A25-DF9B-4AF2-9C4B-0E5EA923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BF0BED-E832-4D80-8B6B-3B51D0F5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623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Users, venues, slots, bookings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E9BD8A-B14F-4768-BDB0-B94A3327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66950"/>
            <a:ext cx="1828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C89EB8-C13A-41D1-B98E-21C8C609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669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BB3712-A04F-4597-8E01-9F192C40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5745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4E67"/>
                </a:solidFill>
              </a:defRPr>
            </a:pPr>
            <a:r>
              <a:rPr sz="1125" b="1">
                <a:solidFill>
                  <a:srgbClr val="2C4E67"/>
                </a:solidFill>
              </a:rPr>
              <a:t>SMTP / mail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6B5712-9978-4DD1-992B-D39A6972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76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F3CE7F-671B-4953-ACF9-450FD77D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003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OTP delivery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C9EDD9-36E9-4716-95D6-FD58EBEC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43300"/>
            <a:ext cx="1828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EE4F17-37C8-45EB-B41C-A28ABC92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433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83C9D0-3475-48BB-923D-8D36C936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3380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57"/>
                </a:solidFill>
              </a:defRPr>
            </a:pPr>
            <a:r>
              <a:rPr sz="1125" b="1">
                <a:solidFill>
                  <a:srgbClr val="0F5C57"/>
                </a:solidFill>
              </a:rPr>
              <a:t>Razorpay / Twilio / AI / Java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098107-C917-467B-A02A-A94E8AAF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9B7741-B1F7-4ABE-BFA3-479DDF2F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76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Payments, notifications, scoring, validation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E1C2D6-1F7F-449E-969C-ED6D9320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81400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2A85B9-D769-4DED-9B6C-7FA7DA77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052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5A07C2-7879-4506-A6C0-7415870F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81400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6241E2-AB55-49A8-AD56-282925BE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052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93573E-D4B4-46A5-924D-1C7C4167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051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AFB966-EEC1-482A-9D02-35810822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289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78873E-9C21-429F-B1E8-01FF1450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20485F-243C-4EF5-BD2C-6C405DE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EBE928-6634-456C-A674-29BAF75F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86350"/>
            <a:ext cx="5829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8016AA-C662-47C9-B633-3190661A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334000"/>
            <a:ext cx="529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4E67"/>
                </a:solidFill>
              </a:defRPr>
            </a:pPr>
            <a:r>
              <a:rPr sz="1200" b="0">
                <a:solidFill>
                  <a:srgbClr val="2C4E67"/>
                </a:solidFill>
              </a:rPr>
              <a:t>This diagram shows how the core web application acts as the coordination point between users, storage, and integrations.</a:t>
            </a:r>
          </a:p>
        </p:txBody>
      </p:sp>
    </p:spTree>
    <p:extLst>
      <p:ext uri="{BB962C8B-B14F-4D97-AF65-F5344CB8AC3E}">
        <p14:creationId xmlns:p14="http://schemas.microsoft.com/office/powerpoint/2010/main" val="5822044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17C256-DC83-415F-BB62-5E713B5C7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480B7-A327-457D-9089-0F99FC89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2FC01-2F9C-4FF7-A382-F889AE89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2705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6CA55-CA75-4A01-B0E5-26228F0E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E64BB-3690-4641-97CB-FD40BF4E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5BD6D-3FFE-4832-B57A-DFA2E21B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DIAGRAMS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26BC0-A042-429E-9BD9-17CF3BD9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57"/>
                </a:solidFill>
              </a:defRPr>
            </a:pPr>
            <a:r>
              <a:rPr sz="975" b="1">
                <a:solidFill>
                  <a:srgbClr val="0F5C57"/>
                </a:solidFill>
              </a:rPr>
              <a:t>17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50FEF-87B8-405E-8F09-2C07A698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86B94-C94A-46A5-8AAB-063BA5A4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1B554-E6E2-4D11-852A-6858D90D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C76"/>
                </a:solidFill>
              </a:defRPr>
            </a:pPr>
            <a:r>
              <a:rPr sz="825" b="0">
                <a:solidFill>
                  <a:srgbClr val="5F6C76"/>
                </a:solidFill>
              </a:rPr>
              <a:t>EMS2 | Major 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FB8B2-841E-470B-9C80-34CA7428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3"/>
                </a:solidFill>
              </a:defRPr>
            </a:pPr>
            <a:r>
              <a:rPr sz="2100" b="1">
                <a:solidFill>
                  <a:srgbClr val="1E2933"/>
                </a:solidFill>
              </a:rPr>
              <a:t>Website Map and Closing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1E0D4-CF41-4B6E-AE0E-78C6CE72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6"/>
                </a:solidFill>
              </a:defRPr>
            </a:pPr>
            <a:r>
              <a:rPr sz="1275" b="0">
                <a:solidFill>
                  <a:srgbClr val="5F6C76"/>
                </a:solidFill>
              </a:rPr>
              <a:t>The navigation structure leads users from public discovery pages into authentication, booking, and role-based dashboards.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8F5FE-C00D-4A6C-9C66-AB6654E1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5621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8214E-D899-4F5E-814C-010A0DDB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D75E9-C575-4006-B59D-C3C8FF2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67F"/>
                </a:solidFill>
              </a:defRPr>
            </a:pPr>
            <a:r>
              <a:rPr sz="1125" b="1">
                <a:solidFill>
                  <a:srgbClr val="16867F"/>
                </a:solidFill>
              </a:rPr>
              <a:t>Home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2A81B-25BC-4DFB-AFDE-D4D0DD37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AC2C5-F5C9-4B15-A3B0-FF5E0BFA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Venues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BF889-23B9-4CB9-B293-8C9DD72A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6EE29-C33A-4055-A06B-F2D0CC52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576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About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486C4-9547-497D-BC5E-4B9109D6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8113D-678C-4162-9D2F-C0E210E9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243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Contact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7D22E7-58A9-4075-BADF-1582E35C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2849E-D11D-438E-BA92-5DCE611E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910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Login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266FE2-1B5A-4FDB-A8E2-A5F0F6FD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ED190-B2EE-46BB-9EB3-398D651E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577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Register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81A9A8-D7F9-4A31-A4BB-D2D91C15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15621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8DF76A-F0F8-4606-A953-A7E0085A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94221B-E74F-43F7-9EF0-AD0B9117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480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8A2C"/>
                </a:solidFill>
              </a:defRPr>
            </a:pPr>
            <a:r>
              <a:rPr sz="1125" b="1">
                <a:solidFill>
                  <a:srgbClr val="C78A2C"/>
                </a:solidFill>
              </a:rPr>
              <a:t>Venues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E1039B-C769-46F2-B9C0-859A00AB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6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3E2202-094D-48D3-88EF-F58F834C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909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Venue detail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8D1C11-A163-43F1-A918-64B79C6E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4F20BB-A7F7-49EB-9753-325F493E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576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Reviews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26D5BA-4D73-4201-AEFB-518815AC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D09482-5B5F-4234-9058-D97FECE6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243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Booking planner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4A4A3B-B6A9-44F7-850D-8E95F8D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57500"/>
            <a:ext cx="15621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948AAA-0120-4BE7-94AF-2F90FABE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575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2352D0-6925-4134-949D-D663F04F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480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B4D"/>
                </a:solidFill>
              </a:defRPr>
            </a:pPr>
            <a:r>
              <a:rPr sz="1125" b="1">
                <a:solidFill>
                  <a:srgbClr val="D96B4D"/>
                </a:solidFill>
              </a:rPr>
              <a:t>Auth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892121-E5D5-49DD-918B-CC2F0288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6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CF1839-6720-4759-AACC-0560E2B4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909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OTP verification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50F499-407B-480B-B7BA-B0EA254F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E93872-2807-48CB-97AE-64FCFD7A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576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Session start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E6CCD4-0A02-480D-BB52-66825735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15621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B8AAD4-CB58-4CB2-BA98-722871A9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5BD590-3A0C-498E-B2E1-8577EF6F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4E67"/>
                </a:solidFill>
              </a:defRPr>
            </a:pPr>
            <a:r>
              <a:rPr sz="1125" b="1">
                <a:solidFill>
                  <a:srgbClr val="2C4E67"/>
                </a:solidFill>
              </a:rPr>
              <a:t>Bookings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6F6A95-9C99-4D69-894C-505A19EC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6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6025C0-7AA4-45C1-A115-6B1CE391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909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Checkout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6885EE-30DE-45AC-AE61-787083B9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17409A-E60C-418B-AD2F-B27CD392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576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Success / failure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F259C6-E16A-4FB3-A7C3-48B05502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F225AD-B83F-4C21-9A05-58BB4FBB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243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My bookings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4B04CA-AF27-4D78-B242-B735557D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57500"/>
            <a:ext cx="15621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83036D-42E7-4167-90B0-530DCDBA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575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7C4CE7-F868-4CA7-9EC1-0698DB6A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480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57"/>
                </a:solidFill>
              </a:defRPr>
            </a:pPr>
            <a:r>
              <a:rPr sz="1125" b="1">
                <a:solidFill>
                  <a:srgbClr val="0F5C57"/>
                </a:solidFill>
              </a:rPr>
              <a:t>Dashboard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62D581-D22A-4177-BB4B-5BC19A84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6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8EF10B-BF70-4180-AD4E-DAE5EB83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909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Owner operations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BBA4EE-F378-4B02-A6CC-208D2A74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4FFF79-3BF3-4DE4-BBE1-A855806A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576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Admin controls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55538F-16C8-401B-B977-A6D21698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794632F-1DCF-4F22-B917-C500F621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243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3"/>
                </a:solidFill>
              </a:defRPr>
            </a:pPr>
            <a:r>
              <a:rPr sz="1125" b="0">
                <a:solidFill>
                  <a:srgbClr val="1E2933"/>
                </a:solidFill>
              </a:rPr>
              <a:t>Review actions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AF843F-F3C2-4E43-8C79-F7BBE3FF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861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E2B005-9A55-4559-A098-5FB5BEE6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99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F6C331-ACA4-477A-B678-1C28DD3B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861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107035-85E9-4B48-A9C9-71ECC4EA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099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47D581E-78BA-4B9D-ABF8-9767BB19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861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017AC5E-A02C-41AB-A40D-2CD6B261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099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A9FA1B-AA18-4E3F-B455-50A90559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861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CF65E74-1A58-4DFB-81C2-43A51D5A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0995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BE46DB-DF28-4DB7-A647-E9B19D7B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6953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C4E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AB276C3-82DC-462E-A603-0F1C9A09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38750"/>
            <a:ext cx="638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EMS2 demonstrates a practical major project with real software engineering structure, user-oriented workflow, and strong scope for future enhancement.</a:t>
            </a:r>
          </a:p>
        </p:txBody>
      </p:sp>
    </p:spTree>
    <p:extLst>
      <p:ext uri="{BB962C8B-B14F-4D97-AF65-F5344CB8AC3E}">
        <p14:creationId xmlns:p14="http://schemas.microsoft.com/office/powerpoint/2010/main" val="571836159"/>
      </p:ext>
    </p:extLst>
  </p:cSld>
</p:sld>
</file>

<file path=ppt/theme/theme1.xml><?xml version="1.0" encoding="utf-8"?>
<a:theme xmlns:a="http://schemas.openxmlformats.org/drawingml/2006/main" name="EMS2">
  <a:themeElements>
    <a:clrScheme name="EMS2">
      <a:accent1>
        <a:srgbClr val="16867F"/>
      </a:accent1>
      <a:accent2>
        <a:srgbClr val="C78A2C"/>
      </a:accent2>
      <a:accent3>
        <a:srgbClr val="D96B4D"/>
      </a:accent3>
      <a:accent4>
        <a:srgbClr val="2C4E67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MS2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2026-04-27T05:21:20.1010000Z</dcterms:created>
  <dcterms:modified xsi:type="dcterms:W3CDTF">2026-04-27T05:21:20.1010000Z</dcterms:modified>
</coreProperties>
</file>